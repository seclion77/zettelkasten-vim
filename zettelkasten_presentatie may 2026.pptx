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AC6F2">
              <a:alpha val="8000"/>
            </a:srgbClr>
          </a:solidFill>
          <a:ln w="12700">
            <a:solidFill>
              <a:srgbClr val="8AC6F2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9FCA56">
              <a:alpha val="7000"/>
            </a:srgbClr>
          </a:solidFill>
          <a:ln w="12700">
            <a:solidFill>
              <a:srgbClr val="9FCA56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274320"/>
          </a:xfrm>
          <a:prstGeom prst="rect">
            <a:avLst/>
          </a:prstGeom>
          <a:solidFill>
            <a:srgbClr val="8AC6F2">
              <a:alpha val="20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 KENNISMANAGEMENT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Zettelkasten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kennisbasis. Lokaal. Privé. Met AI.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1645920" cy="347472"/>
          </a:xfrm>
          <a:prstGeom prst="rect">
            <a:avLst/>
          </a:prstGeom>
          <a:solidFill>
            <a:srgbClr val="8AC6F2">
              <a:alpha val="25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Editor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0" y="1755648"/>
            <a:ext cx="1645920" cy="347472"/>
          </a:xfrm>
          <a:prstGeom prst="rect">
            <a:avLst/>
          </a:prstGeom>
          <a:solidFill>
            <a:srgbClr val="9FCA56">
              <a:alpha val="25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7556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0" y="2414016"/>
            <a:ext cx="1645920" cy="347472"/>
          </a:xfrm>
          <a:prstGeom prst="rect">
            <a:avLst/>
          </a:prstGeom>
          <a:solidFill>
            <a:srgbClr val="EAE788">
              <a:alpha val="25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24140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3072384"/>
            <a:ext cx="1645920" cy="347472"/>
          </a:xfrm>
          <a:prstGeom prst="rect">
            <a:avLst/>
          </a:prstGeom>
          <a:solidFill>
            <a:srgbClr val="E5786D">
              <a:alpha val="25000"/>
            </a:srgbClr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3072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Annotaties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3730752"/>
            <a:ext cx="1645920" cy="347472"/>
          </a:xfrm>
          <a:prstGeom prst="rect">
            <a:avLst/>
          </a:prstGeom>
          <a:solidFill>
            <a:srgbClr val="D787FF">
              <a:alpha val="25000"/>
            </a:srgbClr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3730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Kennisgraaf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10+ · Voortdurend in ontwikkeling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probleem met bestaande PKM-tools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97480" cy="1508760"/>
          </a:xfrm>
          <a:prstGeom prst="rect">
            <a:avLst/>
          </a:prstGeom>
          <a:solidFill>
            <a:srgbClr val="2E2E2E"/>
          </a:solidFill>
          <a:ln w="12700">
            <a:solidFill>
              <a:srgbClr val="E578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1508760"/>
          </a:xfrm>
          <a:prstGeom prst="rect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Cloud-afhankelijk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6245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Notion, Roam, Evernote — al jouw kennis op externe servers. Wat als de service stopt?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0128" y="960120"/>
            <a:ext cx="2697480" cy="1508760"/>
          </a:xfrm>
          <a:prstGeom prst="rect">
            <a:avLst/>
          </a:prstGeom>
          <a:solidFill>
            <a:srgbClr val="2E2E2E"/>
          </a:solidFill>
          <a:ln w="12700">
            <a:solidFill>
              <a:srgbClr val="EAE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960120"/>
            <a:ext cx="54864" cy="1508760"/>
          </a:xfrm>
          <a:prstGeom prst="rect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051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Dure abonnementen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47288" y="136245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Sync €8/mnd, Roam $15/mnd, Notion Plus €8/mnd. Kosten stapelen zich op.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960120"/>
            <a:ext cx="2697480" cy="1508760"/>
          </a:xfrm>
          <a:prstGeom prst="rect">
            <a:avLst/>
          </a:prstGeom>
          <a:solidFill>
            <a:srgbClr val="2E2E2E"/>
          </a:solidFill>
          <a:ln w="12700">
            <a:solidFill>
              <a:srgbClr val="D78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960120"/>
            <a:ext cx="54864" cy="1508760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051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Plugin-overhead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0216" y="136245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vereist tientallen plugins voor basisfunctionaliteit. Complexe setup.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697480" cy="1508760"/>
          </a:xfrm>
          <a:prstGeom prst="rect">
            <a:avLst/>
          </a:prstGeom>
          <a:solidFill>
            <a:srgbClr val="2E2E2E"/>
          </a:solidFill>
          <a:ln w="12700">
            <a:solidFill>
              <a:srgbClr val="8AC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51760"/>
            <a:ext cx="54864" cy="1508760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Geen echte AI-integratie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05409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een add-on, niet ingebakken. Geen GraphRAG, geen lokale modellen.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0128" y="2651760"/>
            <a:ext cx="2697480" cy="1508760"/>
          </a:xfrm>
          <a:prstGeom prst="rect">
            <a:avLst/>
          </a:prstGeom>
          <a:solidFill>
            <a:srgbClr val="2E2E2E"/>
          </a:solidFill>
          <a:ln w="12700">
            <a:solidFill>
              <a:srgbClr val="9FC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0128" y="2651760"/>
            <a:ext cx="54864" cy="1508760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Silo's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47288" y="305409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Notities, PDF's en kanban staan apart. Geen geïntegreerd kennissysteem.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2651760"/>
            <a:ext cx="2697480" cy="1508760"/>
          </a:xfrm>
          <a:prstGeom prst="rect">
            <a:avLst/>
          </a:prstGeom>
          <a:solidFill>
            <a:srgbClr val="2E2E2E"/>
          </a:solidFill>
          <a:ln w="12700">
            <a:solidFill>
              <a:srgbClr val="E578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2651760"/>
            <a:ext cx="54864" cy="1508760"/>
          </a:xfrm>
          <a:prstGeom prst="rect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2743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Privacy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0216" y="305409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gedachten, bronnen en inzichten worden geanalyseerd door derden.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oplossing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3931920" cy="3977640"/>
          </a:xfrm>
          <a:prstGeom prst="rect">
            <a:avLst/>
          </a:prstGeom>
          <a:solidFill>
            <a:srgbClr val="252525"/>
          </a:solidFill>
          <a:ln w="19050">
            <a:solidFill>
              <a:srgbClr val="8AC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De Zettelkasten methode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37160" cy="13716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4081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Vluchtige notities — snel vastleggen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56816"/>
            <a:ext cx="137160" cy="13716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01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Literatuurnotities — verwerken van bronnen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50592"/>
            <a:ext cx="137160" cy="13716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Permanente notities — één idee, atomair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137160" cy="13716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889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Index-notities — navigatiekaarten (MOC)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438144"/>
            <a:ext cx="137160" cy="13716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— review systeem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137160" cy="137160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877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Bidirectionele links — kennisnetwerk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868680"/>
            <a:ext cx="3931920" cy="3977640"/>
          </a:xfrm>
          <a:prstGeom prst="rect">
            <a:avLst/>
          </a:prstGeom>
          <a:solidFill>
            <a:srgbClr val="252525"/>
          </a:solidFill>
          <a:ln w="19050">
            <a:solidFill>
              <a:srgbClr val="9FC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De implementatie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1463040"/>
            <a:ext cx="137160" cy="13716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14081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lokaal </a:t>
            </a:r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Alle data op jouw Mac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1956816"/>
            <a:ext cx="137160" cy="13716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1901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React </a:t>
            </a:r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Geen framework overhead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450592"/>
            <a:ext cx="137160" cy="13716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server </a:t>
            </a:r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Lichtgewicht, poort 8080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944368"/>
            <a:ext cx="137160" cy="13716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2889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vault </a:t>
            </a:r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Git-compatible, toekomstbestendig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3438144"/>
            <a:ext cx="137160" cy="13716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Jan.ai </a:t>
            </a:r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Lokale AI-modellen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931920"/>
            <a:ext cx="137160" cy="137160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3877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PDF.js integratie </a:t>
            </a:r>
            <a:pPr indent="0" marL="0">
              <a:buNone/>
            </a:pPr>
            <a:r>
              <a:rPr lang="en-US" sz="11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Ingebouwde PDF-bibliotheek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idee naar volledig PKM-systeem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0"/>
            <a:ext cx="8229600" cy="45720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2651760"/>
            <a:ext cx="201168" cy="201168"/>
          </a:xfrm>
          <a:prstGeom prst="ellipse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1645920"/>
            <a:ext cx="18288" cy="1005840"/>
          </a:xfrm>
          <a:prstGeom prst="rect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77824"/>
            <a:ext cx="1691640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85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914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editor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canvas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1–2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editor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canvas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structuur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852928" y="2651760"/>
            <a:ext cx="201168" cy="201168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44368" y="1645920"/>
            <a:ext cx="18288" cy="1005840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877824"/>
            <a:ext cx="1691640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8AC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76272" y="914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76272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Notitietypen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0312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3–4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03120" y="31089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Notitietypen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Tagbeheer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Kennisgraaf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98848" y="2651760"/>
            <a:ext cx="201168" cy="201168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0288" y="1645920"/>
            <a:ext cx="18288" cy="1005840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877824"/>
            <a:ext cx="1691640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9FC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22192" y="914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PDF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22192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74904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5–6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49040" y="31089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PDF-viewer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highlights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import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44768" y="2651760"/>
            <a:ext cx="201168" cy="201168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6208" y="1645920"/>
            <a:ext cx="18288" cy="1005840"/>
          </a:xfrm>
          <a:prstGeom prst="rect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0" y="877824"/>
            <a:ext cx="1691640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EAE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68112" y="914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+ Canvas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68112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39496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7–8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94960" y="31089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90688" y="2651760"/>
            <a:ext cx="201168" cy="201168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82128" y="1645920"/>
            <a:ext cx="18288" cy="1005840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877824"/>
            <a:ext cx="1691640" cy="713232"/>
          </a:xfrm>
          <a:prstGeom prst="rect">
            <a:avLst/>
          </a:prstGeom>
          <a:solidFill>
            <a:srgbClr val="2E2E2E"/>
          </a:solidFill>
          <a:ln w="12700">
            <a:solidFill>
              <a:srgbClr val="D78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14032" y="914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PKM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14032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Boeken-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bibliotheek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40880" y="28803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9–10+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40880" y="310896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Boeken-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bibliotheek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Drie-lagen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index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leesnotities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286000" y="4709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3 naar 40+ functies in 10 bouwsessies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functionaliteit in één app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96112"/>
            <a:ext cx="269748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8AC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96112"/>
            <a:ext cx="2697480" cy="347472"/>
          </a:xfrm>
          <a:prstGeom prst="rect">
            <a:avLst/>
          </a:prstGeom>
          <a:solidFill>
            <a:srgbClr val="8AC6F2">
              <a:alpha val="25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235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Schrijven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82296" cy="82296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25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VIM-editor op canvas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1655064"/>
            <a:ext cx="82296" cy="82296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Outline-editor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1938528"/>
            <a:ext cx="82296" cy="82296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892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preview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221992"/>
            <a:ext cx="82296" cy="82296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1762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Drie-lagen annotaties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505456"/>
            <a:ext cx="82296" cy="82296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459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 &amp; templates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0128" y="896112"/>
            <a:ext cx="269748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9FC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10128" y="896112"/>
            <a:ext cx="2697480" cy="347472"/>
          </a:xfrm>
          <a:prstGeom prst="rect">
            <a:avLst/>
          </a:prstGeom>
          <a:solidFill>
            <a:srgbClr val="9FCA56">
              <a:alpha val="25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9235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Ontdekken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19856" y="1371600"/>
            <a:ext cx="82296" cy="82296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325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zoeken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19856" y="1655064"/>
            <a:ext cx="82296" cy="82296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Kennisgraaf + GraphRAG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19856" y="1938528"/>
            <a:ext cx="82296" cy="82296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1892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Mindmap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19856" y="2221992"/>
            <a:ext cx="82296" cy="82296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1762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Canvas/Whiteboard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19856" y="2505456"/>
            <a:ext cx="82296" cy="82296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459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Query-paneel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63056" y="896112"/>
            <a:ext cx="269748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EAE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896112"/>
            <a:ext cx="2697480" cy="347472"/>
          </a:xfrm>
          <a:prstGeom prst="rect">
            <a:avLst/>
          </a:prstGeom>
          <a:solidFill>
            <a:srgbClr val="EAE788">
              <a:alpha val="25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9235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Bibliotheek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72784" y="1371600"/>
            <a:ext cx="82296" cy="82296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13258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PDF-viewer + annotaties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72784" y="1655064"/>
            <a:ext cx="82296" cy="82296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Leesnotitie-zijpaneel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72784" y="1938528"/>
            <a:ext cx="82296" cy="82296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1892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Boeken-bibliotheek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72784" y="2221992"/>
            <a:ext cx="82296" cy="82296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9088" y="21762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Leeslijst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72784" y="2505456"/>
            <a:ext cx="82296" cy="82296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2459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2953512"/>
            <a:ext cx="269748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D78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2953512"/>
            <a:ext cx="2697480" cy="347472"/>
          </a:xfrm>
          <a:prstGeom prst="rect">
            <a:avLst/>
          </a:prstGeom>
          <a:solidFill>
            <a:srgbClr val="D787FF">
              <a:alpha val="25000"/>
            </a:srgbClr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29809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66928" y="3429000"/>
            <a:ext cx="82296" cy="82296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3383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LLM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" y="3712464"/>
            <a:ext cx="82296" cy="82296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context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6928" y="3995928"/>
            <a:ext cx="82296" cy="82296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" y="3950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Lokaal: Ollama/Jan.ai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6928" y="4279392"/>
            <a:ext cx="82296" cy="82296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" y="42336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Claude/Gemini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66928" y="4562856"/>
            <a:ext cx="82296" cy="82296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" y="45171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URL-import + samenvatting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310128" y="2953512"/>
            <a:ext cx="269748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E578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310128" y="2953512"/>
            <a:ext cx="2697480" cy="347472"/>
          </a:xfrm>
          <a:prstGeom prst="rect">
            <a:avLst/>
          </a:prstGeom>
          <a:solidFill>
            <a:srgbClr val="E5786D">
              <a:alpha val="25000"/>
            </a:srgbClr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01568" y="29809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Invoer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419856" y="3429000"/>
            <a:ext cx="82296" cy="82296"/>
          </a:xfrm>
          <a:prstGeom prst="ellipse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66160" y="3383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+ Substack import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419856" y="3712464"/>
            <a:ext cx="82296" cy="82296"/>
          </a:xfrm>
          <a:prstGeom prst="ellipse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66160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import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419856" y="3995928"/>
            <a:ext cx="82296" cy="82296"/>
          </a:xfrm>
          <a:prstGeom prst="ellipse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66160" y="3950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Word/PowerPoint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419856" y="4279392"/>
            <a:ext cx="82296" cy="82296"/>
          </a:xfrm>
          <a:prstGeom prst="ellipse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66160" y="42336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Boeken via Bol.com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419856" y="4562856"/>
            <a:ext cx="82296" cy="82296"/>
          </a:xfrm>
          <a:prstGeom prst="ellipse">
            <a:avLst/>
          </a:prstGeom>
          <a:solidFill>
            <a:srgbClr val="E5786D"/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66160" y="45171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import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163056" y="2953512"/>
            <a:ext cx="269748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85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163056" y="2953512"/>
            <a:ext cx="2697480" cy="347472"/>
          </a:xfrm>
          <a:prstGeom prst="rect">
            <a:avLst/>
          </a:prstGeom>
          <a:solidFill>
            <a:srgbClr val="857B6F">
              <a:alpha val="25000"/>
            </a:srgbClr>
          </a:solidFill>
          <a:ln w="12700">
            <a:solidFill>
              <a:srgbClr val="857B6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54496" y="29809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Beheer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272784" y="3429000"/>
            <a:ext cx="82296" cy="82296"/>
          </a:xfrm>
          <a:prstGeom prst="ellipse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19088" y="33832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Tag-manager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272784" y="3712464"/>
            <a:ext cx="82296" cy="82296"/>
          </a:xfrm>
          <a:prstGeom prst="ellipse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19088" y="3666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Statistieken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272784" y="3995928"/>
            <a:ext cx="82296" cy="82296"/>
          </a:xfrm>
          <a:prstGeom prst="ellipse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19088" y="3950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opschonen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272784" y="4279392"/>
            <a:ext cx="82296" cy="82296"/>
          </a:xfrm>
          <a:prstGeom prst="ellipse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19088" y="42336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API-sleutels beheer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272784" y="4562856"/>
            <a:ext cx="82296" cy="82296"/>
          </a:xfrm>
          <a:prstGeom prst="ellipse">
            <a:avLst/>
          </a:prstGeom>
          <a:solidFill>
            <a:srgbClr val="857B6F"/>
          </a:solidFill>
          <a:ln w="12700">
            <a:solidFill>
              <a:srgbClr val="857B6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19088" y="45171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Split-screen modus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&amp; Notities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96112"/>
            <a:ext cx="5029200" cy="3566160"/>
          </a:xfrm>
          <a:prstGeom prst="rect">
            <a:avLst/>
          </a:prstGeom>
          <a:solidFill>
            <a:srgbClr val="111111"/>
          </a:solidFill>
          <a:ln w="12700">
            <a:solidFill>
              <a:srgbClr val="3A40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4160520"/>
            <a:ext cx="5029200" cy="256032"/>
          </a:xfrm>
          <a:prstGeom prst="rect">
            <a:avLst/>
          </a:prstGeom>
          <a:solidFill>
            <a:srgbClr val="8AC6F2">
              <a:alpha val="20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788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C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 |  Kennismanagement.md  |  p.12  |  gemma3:12b ✓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9875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Kennismanagement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252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5179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Een **Zettelkasten** is een systeem waarbij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elke notitie atomair en zelfstandig is.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0482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3134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Kernprincipes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5786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843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[[Atomaire notities]] zijn de basis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108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[Verbindingen]{.eigen} maken kennis levend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3741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C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[Bronnen]{.bron} altijd vastleggen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639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9044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#zettelkasten #methode #kennismanagement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2843784"/>
            <a:ext cx="109728" cy="201168"/>
          </a:xfrm>
          <a:prstGeom prst="rect">
            <a:avLst/>
          </a:prstGeom>
          <a:solidFill>
            <a:srgbClr val="EAE788">
              <a:alpha val="70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896112"/>
            <a:ext cx="3017520" cy="941832"/>
          </a:xfrm>
          <a:prstGeom prst="rect">
            <a:avLst/>
          </a:prstGeom>
          <a:solidFill>
            <a:srgbClr val="2E2E2E"/>
          </a:solidFill>
          <a:ln w="19050">
            <a:solidFill>
              <a:srgbClr val="EAE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0" y="896112"/>
            <a:ext cx="64008" cy="941832"/>
          </a:xfrm>
          <a:prstGeom prst="rect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10058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VIM-modi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33872" y="1298448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INSERT · VISUAL · COMMAND. Volledige VIM-keybindings inclusief macros en marks.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1947672"/>
            <a:ext cx="3017520" cy="941832"/>
          </a:xfrm>
          <a:prstGeom prst="rect">
            <a:avLst/>
          </a:prstGeom>
          <a:solidFill>
            <a:srgbClr val="2E2E2E"/>
          </a:solidFill>
          <a:ln w="19050">
            <a:solidFill>
              <a:srgbClr val="8AC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0" y="1947672"/>
            <a:ext cx="64008" cy="941832"/>
          </a:xfrm>
          <a:prstGeom prst="rect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33872" y="20574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Outline-editor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33872" y="2350008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Tab/Shift+Tab voor indenteren. Auto-bullets op Enter. Wisselen zonder dataverlies.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999232"/>
            <a:ext cx="3017520" cy="941832"/>
          </a:xfrm>
          <a:prstGeom prst="rect">
            <a:avLst/>
          </a:prstGeom>
          <a:solidFill>
            <a:srgbClr val="2E2E2E"/>
          </a:solidFill>
          <a:ln w="19050">
            <a:solidFill>
              <a:srgbClr val="9FC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0" y="2999232"/>
            <a:ext cx="64008" cy="941832"/>
          </a:xfrm>
          <a:prstGeom prst="rect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3108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Drie-lagen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33872" y="3401568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[tekst]{.bron} · [tekst]{.kritisch} · [tekst]{.eigen}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VIM: \b · \k · \e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4050792"/>
            <a:ext cx="3017520" cy="941832"/>
          </a:xfrm>
          <a:prstGeom prst="rect">
            <a:avLst/>
          </a:prstGeom>
          <a:solidFill>
            <a:srgbClr val="2E2E2E"/>
          </a:solidFill>
          <a:ln w="19050">
            <a:solidFill>
              <a:srgbClr val="D78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69280" y="4050792"/>
            <a:ext cx="64008" cy="941832"/>
          </a:xfrm>
          <a:prstGeom prst="rect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41605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Notitietypen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33872" y="4453128"/>
            <a:ext cx="2788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Vluchtig → 📖 Literatuur → 💎 Permanent → 🗺 Index. Promoveer-suggestie na 2 dagen.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Kennisgraaf &amp; GraphRAG — het unieke hart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2578608"/>
            <a:ext cx="-1280160" cy="-82296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2578608"/>
            <a:ext cx="1097280" cy="-100584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2578608"/>
            <a:ext cx="1097280" cy="82296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1755648"/>
            <a:ext cx="-365760" cy="146304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755648"/>
            <a:ext cx="731520" cy="201168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1572768"/>
            <a:ext cx="914400" cy="73152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2578608"/>
            <a:ext cx="2011680" cy="-27432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1755648"/>
            <a:ext cx="548640" cy="-457200"/>
          </a:xfrm>
          <a:prstGeom prst="line">
            <a:avLst/>
          </a:prstGeom>
          <a:noFill/>
          <a:ln w="12700">
            <a:solidFill>
              <a:srgbClr val="3A40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2249424"/>
            <a:ext cx="585216" cy="585216"/>
          </a:xfrm>
          <a:prstGeom prst="ellipse">
            <a:avLst/>
          </a:prstGeom>
          <a:solidFill>
            <a:srgbClr val="EAE788">
              <a:alpha val="40000"/>
            </a:srgbClr>
          </a:solidFill>
          <a:ln w="19050">
            <a:solidFill>
              <a:srgbClr val="EAE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8346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PKM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353312" y="1517904"/>
            <a:ext cx="402336" cy="402336"/>
          </a:xfrm>
          <a:prstGeom prst="ellipse">
            <a:avLst/>
          </a:prstGeom>
          <a:solidFill>
            <a:srgbClr val="8AC6F2">
              <a:alpha val="40000"/>
            </a:srgbClr>
          </a:solidFill>
          <a:ln w="19050">
            <a:solidFill>
              <a:srgbClr val="8AC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920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30752" y="1335024"/>
            <a:ext cx="402336" cy="402336"/>
          </a:xfrm>
          <a:prstGeom prst="ellipse">
            <a:avLst/>
          </a:prstGeom>
          <a:solidFill>
            <a:srgbClr val="8AC6F2">
              <a:alpha val="40000"/>
            </a:srgbClr>
          </a:solidFill>
          <a:ln w="19050">
            <a:solidFill>
              <a:srgbClr val="8AC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737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24128" y="3017520"/>
            <a:ext cx="329184" cy="329184"/>
          </a:xfrm>
          <a:prstGeom prst="ellipse">
            <a:avLst/>
          </a:prstGeom>
          <a:solidFill>
            <a:srgbClr val="9FCA56">
              <a:alpha val="40000"/>
            </a:srgbClr>
          </a:solidFill>
          <a:ln w="19050">
            <a:solidFill>
              <a:srgbClr val="9FCA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467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121408" y="3566160"/>
            <a:ext cx="329184" cy="329184"/>
          </a:xfrm>
          <a:prstGeom prst="ellipse">
            <a:avLst/>
          </a:prstGeom>
          <a:solidFill>
            <a:srgbClr val="9FCA56">
              <a:alpha val="40000"/>
            </a:srgbClr>
          </a:solidFill>
          <a:ln w="19050">
            <a:solidFill>
              <a:srgbClr val="9FCA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38953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30752" y="3163824"/>
            <a:ext cx="402336" cy="402336"/>
          </a:xfrm>
          <a:prstGeom prst="ellipse">
            <a:avLst/>
          </a:prstGeom>
          <a:solidFill>
            <a:srgbClr val="D787FF">
              <a:alpha val="40000"/>
            </a:srgbClr>
          </a:solidFill>
          <a:ln w="19050">
            <a:solidFill>
              <a:srgbClr val="D78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5661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Graaf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81728" y="2103120"/>
            <a:ext cx="329184" cy="329184"/>
          </a:xfrm>
          <a:prstGeom prst="ellipse">
            <a:avLst/>
          </a:prstGeom>
          <a:solidFill>
            <a:srgbClr val="857B6F">
              <a:alpha val="40000"/>
            </a:srgbClr>
          </a:solidFill>
          <a:ln w="19050">
            <a:solidFill>
              <a:srgbClr val="857B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24323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956816" y="1115568"/>
            <a:ext cx="292608" cy="292608"/>
          </a:xfrm>
          <a:prstGeom prst="ellipse">
            <a:avLst/>
          </a:prstGeom>
          <a:solidFill>
            <a:srgbClr val="857B6F">
              <a:alpha val="40000"/>
            </a:srgbClr>
          </a:solidFill>
          <a:ln w="19050">
            <a:solidFill>
              <a:srgbClr val="857B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14081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868680"/>
            <a:ext cx="3566160" cy="4023360"/>
          </a:xfrm>
          <a:prstGeom prst="rect">
            <a:avLst/>
          </a:prstGeom>
          <a:solidFill>
            <a:srgbClr val="252525"/>
          </a:solidFill>
          <a:ln w="19050">
            <a:solidFill>
              <a:srgbClr val="D78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57800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 GraphRAG — AI met graafcontext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349240" y="1444752"/>
            <a:ext cx="228600" cy="228600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1463040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50992" y="14264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een vraag in het Notebook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49240" y="2066544"/>
            <a:ext cx="228600" cy="228600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2084832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50992" y="204825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zoekt top-8 relevante notities via TF-IDF + graafstructuur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49240" y="2688336"/>
            <a:ext cx="228600" cy="228600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2706624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50992" y="26700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Geselecteerde nodes + buren + community als context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49240" y="3310128"/>
            <a:ext cx="228600" cy="228600"/>
          </a:xfrm>
          <a:prstGeom prst="ellipse">
            <a:avLst/>
          </a:prstGeom>
          <a:solidFill>
            <a:srgbClr val="D787FF"/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328416"/>
            <a:ext cx="228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50992" y="32918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antwoordt met volledige kennisbasis als achtergrond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49240" y="3931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Snelknoppen: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49240" y="4178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Overzicht vault  ·  🔍 Kennishiaten  ·  💡 Verrassende links  ·  📈 Sterke notities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8640" y="4526280"/>
            <a:ext cx="4389120" cy="292608"/>
          </a:xfrm>
          <a:prstGeom prst="rect">
            <a:avLst/>
          </a:prstGeom>
          <a:solidFill>
            <a:srgbClr val="EAE788">
              <a:alpha val="18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5537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Uniek: geen enkele andere PKM-tool heeft ingebouwde GraphRAG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PDF-bibliotheek &amp; Leesnotities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96112"/>
            <a:ext cx="2651760" cy="3931920"/>
          </a:xfrm>
          <a:prstGeom prst="rect">
            <a:avLst/>
          </a:prstGeom>
          <a:solidFill>
            <a:srgbClr val="252525"/>
          </a:solidFill>
          <a:ln w="19050">
            <a:solidFill>
              <a:srgbClr val="EAE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96112"/>
            <a:ext cx="2651760" cy="365760"/>
          </a:xfrm>
          <a:prstGeom prst="rect">
            <a:avLst/>
          </a:prstGeom>
          <a:solidFill>
            <a:srgbClr val="EAE788">
              <a:alpha val="22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23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Kleurcodering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2423160" cy="548640"/>
          </a:xfrm>
          <a:prstGeom prst="rect">
            <a:avLst/>
          </a:prstGeom>
          <a:solidFill>
            <a:srgbClr val="EAE788">
              <a:alpha val="18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99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618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Letterlijk citaat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2029968"/>
            <a:ext cx="2423160" cy="548640"/>
          </a:xfrm>
          <a:prstGeom prst="rect">
            <a:avLst/>
          </a:prstGeom>
          <a:solidFill>
            <a:srgbClr val="8AC6F2">
              <a:alpha val="18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Blauw · Bron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2768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{.bron} annotatie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688336"/>
            <a:ext cx="2423160" cy="548640"/>
          </a:xfrm>
          <a:prstGeom prst="rect">
            <a:avLst/>
          </a:prstGeom>
          <a:solidFill>
            <a:srgbClr val="E5786D">
              <a:alpha val="18000"/>
            </a:srgbClr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715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Rood · Kritisch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935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{.kritisch} annotatie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346704"/>
            <a:ext cx="2423160" cy="548640"/>
          </a:xfrm>
          <a:prstGeom prst="rect">
            <a:avLst/>
          </a:prstGeom>
          <a:solidFill>
            <a:srgbClr val="9FCA56">
              <a:alpha val="18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3741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Groen · Eigen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3593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{.eigen} annotatie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4005072"/>
            <a:ext cx="2423160" cy="548640"/>
          </a:xfrm>
          <a:prstGeom prst="rect">
            <a:avLst/>
          </a:prstGeom>
          <a:solidFill>
            <a:srgbClr val="D787FF">
              <a:alpha val="18000"/>
            </a:srgbClr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0325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Paars · Vraag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4251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vraag / onduidelijk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896112"/>
            <a:ext cx="2651760" cy="3931920"/>
          </a:xfrm>
          <a:prstGeom prst="rect">
            <a:avLst/>
          </a:prstGeom>
          <a:solidFill>
            <a:srgbClr val="252525"/>
          </a:solidFill>
          <a:ln w="19050">
            <a:solidFill>
              <a:srgbClr val="8AC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896112"/>
            <a:ext cx="2651760" cy="365760"/>
          </a:xfrm>
          <a:prstGeom prst="rect">
            <a:avLst/>
          </a:prstGeom>
          <a:solidFill>
            <a:srgbClr val="8AC6F2">
              <a:alpha val="22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923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Leesnotitie-zijpaneel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19856" y="1353312"/>
            <a:ext cx="2423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◀✏ rechts van de PDF voor een apart notitiepad: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Schrijf Markdown terwijl je leest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p.12 — voeg paginakopregel 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citaat — geselecteerde tekst als blockquote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✓ Opslaan als Zettelkasten-notitie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Laadt automatisch bij heropenen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896112"/>
            <a:ext cx="2651760" cy="3931920"/>
          </a:xfrm>
          <a:prstGeom prst="rect">
            <a:avLst/>
          </a:prstGeom>
          <a:solidFill>
            <a:srgbClr val="252525"/>
          </a:solidFill>
          <a:ln w="19050">
            <a:solidFill>
              <a:srgbClr val="9FC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896112"/>
            <a:ext cx="2651760" cy="365760"/>
          </a:xfrm>
          <a:prstGeom prst="rect">
            <a:avLst/>
          </a:prstGeom>
          <a:solidFill>
            <a:srgbClr val="9FCA56">
              <a:alpha val="22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9235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Annotaties exporteren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4496" y="1353312"/>
            <a:ext cx="2423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knop bundelt ALLE highlights als literatuurnotitie: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Gegroepeerd per pagina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Citaten als &gt; blockquotes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Kleurmarkeringen als {.bron/.kritisch/.eigen}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Leesnotitie onderaan toegevoegd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klaar voor Zettelkasten-verwerking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Positionering vs. andere PKM-tools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2011680" cy="438912"/>
          </a:xfrm>
          <a:prstGeom prst="rect">
            <a:avLst/>
          </a:prstGeom>
          <a:solidFill>
            <a:srgbClr val="2E2E2E"/>
          </a:solidFill>
          <a:ln w="6350">
            <a:solidFill>
              <a:srgbClr val="3A40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87168" y="914400"/>
            <a:ext cx="1188720" cy="438912"/>
          </a:xfrm>
          <a:prstGeom prst="rect">
            <a:avLst/>
          </a:prstGeom>
          <a:solidFill>
            <a:srgbClr val="2E2E2E"/>
          </a:solidFill>
          <a:ln w="6350">
            <a:solidFill>
              <a:srgbClr val="3A40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32888" y="9326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75888" y="914400"/>
            <a:ext cx="1188720" cy="438912"/>
          </a:xfrm>
          <a:prstGeom prst="rect">
            <a:avLst/>
          </a:prstGeom>
          <a:solidFill>
            <a:srgbClr val="2E2E2E"/>
          </a:solidFill>
          <a:ln w="6350">
            <a:solidFill>
              <a:srgbClr val="3A40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608" y="9326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64608" y="914400"/>
            <a:ext cx="1051560" cy="438912"/>
          </a:xfrm>
          <a:prstGeom prst="rect">
            <a:avLst/>
          </a:prstGeom>
          <a:solidFill>
            <a:srgbClr val="2E2E2E"/>
          </a:solidFill>
          <a:ln w="6350">
            <a:solidFill>
              <a:srgbClr val="3A40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93268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16168" y="914400"/>
            <a:ext cx="1051560" cy="438912"/>
          </a:xfrm>
          <a:prstGeom prst="rect">
            <a:avLst/>
          </a:prstGeom>
          <a:solidFill>
            <a:srgbClr val="2E2E2E"/>
          </a:solidFill>
          <a:ln w="6350">
            <a:solidFill>
              <a:srgbClr val="3A40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93268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Logseq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67728" y="914400"/>
            <a:ext cx="1463040" cy="438912"/>
          </a:xfrm>
          <a:prstGeom prst="rect">
            <a:avLst/>
          </a:prstGeom>
          <a:solidFill>
            <a:srgbClr val="8AC6F2"/>
          </a:solidFill>
          <a:ln w="6350">
            <a:solidFill>
              <a:srgbClr val="3A40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13448" y="9326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Zettelkasten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353312"/>
            <a:ext cx="201168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38074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lokaal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87168" y="135331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138074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75888" y="135331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21608" y="138074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135331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13807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16168" y="135331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13807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67728" y="1353312"/>
            <a:ext cx="146304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138074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1673352"/>
            <a:ext cx="201168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170078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87168" y="167335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32888" y="17007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✓*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75888" y="167335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21608" y="17007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64608" y="167335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170078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✗*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16168" y="167335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61888" y="170078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67728" y="1673352"/>
            <a:ext cx="146304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13448" y="170078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1993392"/>
            <a:ext cx="201168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02082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Ingebouwde AI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87168" y="199339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32888" y="202082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75888" y="199339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21608" y="202082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Beperkt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64608" y="199339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0328" y="202082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916168" y="199339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61888" y="202082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67728" y="1993392"/>
            <a:ext cx="146304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13448" y="202082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2313432"/>
            <a:ext cx="201168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234086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487168" y="231343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32888" y="234086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75888" y="231343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21608" y="234086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64608" y="231343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10328" y="234086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916168" y="231343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61888" y="234086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67728" y="2313432"/>
            <a:ext cx="146304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13448" y="234086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2633472"/>
            <a:ext cx="201168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266090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editor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487168" y="263347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32888" y="266090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75888" y="263347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21608" y="266090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864608" y="263347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10328" y="266090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916168" y="263347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61888" y="266090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967728" y="2633472"/>
            <a:ext cx="146304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13448" y="266090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57200" y="2953512"/>
            <a:ext cx="201168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2920" y="298094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PDF-bibliotheek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487168" y="295351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32888" y="298094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675888" y="295351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21608" y="298094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864608" y="295351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10328" y="29809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916168" y="295351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61888" y="29809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967728" y="2953512"/>
            <a:ext cx="146304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013448" y="298094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57200" y="3273552"/>
            <a:ext cx="201168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2920" y="330098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AI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487168" y="327355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532888" y="33009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675888" y="327355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21608" y="330098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864608" y="327355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10328" y="330098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916168" y="327355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61888" y="330098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967728" y="3273552"/>
            <a:ext cx="146304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013448" y="330098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57200" y="3593592"/>
            <a:ext cx="201168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02920" y="362102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Zettelkasten-typen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487168" y="359359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532888" y="362102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Manueel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675888" y="359359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721608" y="362102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4864608" y="359359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910328" y="362102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Manueel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5916168" y="359359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961888" y="362102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967728" y="3593592"/>
            <a:ext cx="146304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013448" y="362102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457200" y="3913632"/>
            <a:ext cx="201168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2920" y="394106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Kennisgraaf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2487168" y="391363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532888" y="394106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3675888" y="3913632"/>
            <a:ext cx="118872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721608" y="394106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4864608" y="391363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910328" y="394106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5916168" y="3913632"/>
            <a:ext cx="105156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961888" y="394106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6967728" y="3913632"/>
            <a:ext cx="1463040" cy="320040"/>
          </a:xfrm>
          <a:prstGeom prst="rect">
            <a:avLst/>
          </a:prstGeom>
          <a:solidFill>
            <a:srgbClr val="252525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013448" y="394106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457200" y="4233672"/>
            <a:ext cx="201168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02920" y="426110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2487168" y="423367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532888" y="426110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3675888" y="4233672"/>
            <a:ext cx="118872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721608" y="4261104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4864608" y="423367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910328" y="426110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5916168" y="4233672"/>
            <a:ext cx="105156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961888" y="426110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6967728" y="4233672"/>
            <a:ext cx="1463040" cy="320040"/>
          </a:xfrm>
          <a:prstGeom prst="rect">
            <a:avLst/>
          </a:prstGeom>
          <a:solidFill>
            <a:srgbClr val="2E2E2E"/>
          </a:solidFill>
          <a:ln w="3810">
            <a:solidFill>
              <a:srgbClr val="3A4046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013448" y="4261104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Obsidian gratis voor persoonlijk gebruik; sync €8/mnd. Notion gratis plan beperkt.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maakt deze app uniek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11480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8AC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70432" y="98755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lokaal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Privacy-first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data blijft op jouw Mac. Geen cloud, geen abonnement, geen datamining. Markdown-bestanden — forever toekomstbestendig.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11480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EAE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13832" y="98755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die je kennisgraaf kent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enkele andere PKM-tool heeft dit. De AI antwoordt niet alleen op je vraag maar gebruikt de volledige structuur van je kennisbasis als context.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1480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9FC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70432" y="309067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geïntegreerd: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plugins nodig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79476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VIM-editor, PDF-bibliotheek, Canvas, Kennisgraaf, Boeken, Annotaties, Import — alles in één applicatie. Geen plugin-hell.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4114800" cy="1920240"/>
          </a:xfrm>
          <a:prstGeom prst="rect">
            <a:avLst/>
          </a:prstGeom>
          <a:solidFill>
            <a:srgbClr val="2E2E2E"/>
          </a:solidFill>
          <a:ln w="19050">
            <a:solidFill>
              <a:srgbClr val="D78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13832" y="309067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Zettelkasten-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 ingebakken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79476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Notitietypen, promoveer-suggesties, spaced repetition en drie-lagen annotaties zijn geen afterthought maar de kern van de architectuur.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AI-integratie — lokaal én cloud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96112"/>
            <a:ext cx="3977640" cy="3931920"/>
          </a:xfrm>
          <a:prstGeom prst="rect">
            <a:avLst/>
          </a:prstGeom>
          <a:solidFill>
            <a:srgbClr val="252525"/>
          </a:solidFill>
          <a:ln w="19050">
            <a:solidFill>
              <a:srgbClr val="9FC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96112"/>
            <a:ext cx="3977640" cy="347472"/>
          </a:xfrm>
          <a:prstGeom prst="rect">
            <a:avLst/>
          </a:prstGeom>
          <a:solidFill>
            <a:srgbClr val="9FCA56">
              <a:alpha val="22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235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Lokaal (privé, gratis)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3703320" cy="960120"/>
          </a:xfrm>
          <a:prstGeom prst="rect">
            <a:avLst/>
          </a:prstGeom>
          <a:solidFill>
            <a:srgbClr val="2E2E2E"/>
          </a:solidFill>
          <a:ln w="10160">
            <a:solidFill>
              <a:srgbClr val="9FCA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08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655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C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gemma3:12b · qwen3:8b · llama3.3:8b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18288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 lokale engine. Installeer modellen met `ollama pull`.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468880"/>
            <a:ext cx="3703320" cy="960120"/>
          </a:xfrm>
          <a:prstGeom prst="rect">
            <a:avLst/>
          </a:prstGeom>
          <a:solidFill>
            <a:srgbClr val="2E2E2E"/>
          </a:solidFill>
          <a:ln w="10160">
            <a:solidFill>
              <a:srgbClr val="9FCA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505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Jan.ai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7523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C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 Jan-modellen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3232" y="2926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Alternatief met desktop UI. Aansluiten via Instellingen → Jan.ai.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566160"/>
            <a:ext cx="3703320" cy="960120"/>
          </a:xfrm>
          <a:prstGeom prst="rect">
            <a:avLst/>
          </a:prstGeom>
          <a:solidFill>
            <a:srgbClr val="2E2E2E"/>
          </a:solidFill>
          <a:ln w="10160">
            <a:solidFill>
              <a:srgbClr val="9FCA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602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Chunk-samenvatting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38496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artikelen in stukken gesplitst zodat lokale modellen volledig kunnen samenvatten.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896112"/>
            <a:ext cx="3977640" cy="3931920"/>
          </a:xfrm>
          <a:prstGeom prst="rect">
            <a:avLst/>
          </a:prstGeom>
          <a:solidFill>
            <a:srgbClr val="252525"/>
          </a:solidFill>
          <a:ln w="19050">
            <a:solidFill>
              <a:srgbClr val="8AC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96112"/>
            <a:ext cx="3977640" cy="347472"/>
          </a:xfrm>
          <a:prstGeom prst="rect">
            <a:avLst/>
          </a:prstGeom>
          <a:solidFill>
            <a:srgbClr val="8AC6F2">
              <a:alpha val="22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9235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Cloud (grote context, krachtig)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371600"/>
            <a:ext cx="3703320" cy="585216"/>
          </a:xfrm>
          <a:prstGeom prst="rect">
            <a:avLst/>
          </a:prstGeom>
          <a:solidFill>
            <a:srgbClr val="2E2E2E"/>
          </a:solidFill>
          <a:ln w="10160">
            <a:solidFill>
              <a:srgbClr val="D787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399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56048" y="16093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 · claude-opus-4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2066544"/>
            <a:ext cx="3703320" cy="585216"/>
          </a:xfrm>
          <a:prstGeom prst="rect">
            <a:avLst/>
          </a:prstGeom>
          <a:solidFill>
            <a:srgbClr val="2E2E2E"/>
          </a:solidFill>
          <a:ln w="10160">
            <a:solidFill>
              <a:srgbClr val="8AC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0939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(Google)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56048" y="23042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 · gemini-2.5-pro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2761488"/>
            <a:ext cx="3703320" cy="585216"/>
          </a:xfrm>
          <a:prstGeom prst="rect">
            <a:avLst/>
          </a:prstGeom>
          <a:solidFill>
            <a:srgbClr val="2E2E2E"/>
          </a:solidFill>
          <a:ln w="10160">
            <a:solidFill>
              <a:srgbClr val="9FCA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56048" y="2999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 · o1 · o3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3456432"/>
            <a:ext cx="3703320" cy="585216"/>
          </a:xfrm>
          <a:prstGeom prst="rect">
            <a:avLst/>
          </a:prstGeom>
          <a:solidFill>
            <a:srgbClr val="2E2E2E"/>
          </a:solidFill>
          <a:ln w="10160">
            <a:solidFill>
              <a:srgbClr val="EAE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4838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56048" y="36941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400+ modellen via één API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4151376"/>
            <a:ext cx="3703320" cy="585216"/>
          </a:xfrm>
          <a:prstGeom prst="rect">
            <a:avLst/>
          </a:prstGeom>
          <a:solidFill>
            <a:srgbClr val="2E2E2E"/>
          </a:solidFill>
          <a:ln w="10160">
            <a:solidFill>
              <a:srgbClr val="E5786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4178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56048" y="43891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E0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mistral-large · magistral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0" y="457200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API-sleutels instellen via ⚙ Instellingen → API-sleutels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dagelijkse workflows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114800" cy="1938528"/>
          </a:xfrm>
          <a:prstGeom prst="rect">
            <a:avLst/>
          </a:prstGeom>
          <a:solidFill>
            <a:srgbClr val="252525"/>
          </a:solidFill>
          <a:ln w="15240">
            <a:solidFill>
              <a:srgbClr val="8AC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987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Artikel verwerken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389888"/>
            <a:ext cx="201168" cy="201168"/>
          </a:xfrm>
          <a:prstGeom prst="rect">
            <a:avLst/>
          </a:prstGeom>
          <a:solidFill>
            <a:srgbClr val="8AC6F2">
              <a:alpha val="30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99032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importeren → AI-samenvatting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1673352"/>
            <a:ext cx="201168" cy="201168"/>
          </a:xfrm>
          <a:prstGeom prst="rect">
            <a:avLst/>
          </a:prstGeom>
          <a:solidFill>
            <a:srgbClr val="8AC6F2">
              <a:alpha val="30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82496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6550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markeren met drie-lagen kleuren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1956816"/>
            <a:ext cx="201168" cy="201168"/>
          </a:xfrm>
          <a:prstGeom prst="rect">
            <a:avLst/>
          </a:prstGeom>
          <a:solidFill>
            <a:srgbClr val="8AC6F2">
              <a:alpha val="30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65960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interpretaties toevoegen als {.eigen}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240280"/>
            <a:ext cx="201168" cy="201168"/>
          </a:xfrm>
          <a:prstGeom prst="rect">
            <a:avLst/>
          </a:prstGeom>
          <a:solidFill>
            <a:srgbClr val="8AC6F2">
              <a:alpha val="30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249424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22219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Promotie naar permanente notitie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2523744"/>
            <a:ext cx="201168" cy="201168"/>
          </a:xfrm>
          <a:prstGeom prst="rect">
            <a:avLst/>
          </a:prstGeom>
          <a:solidFill>
            <a:srgbClr val="8AC6F2">
              <a:alpha val="30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532888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2505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Koppelen in de kennisgraaf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914400"/>
            <a:ext cx="4114800" cy="1938528"/>
          </a:xfrm>
          <a:prstGeom prst="rect">
            <a:avLst/>
          </a:prstGeom>
          <a:solidFill>
            <a:srgbClr val="252525"/>
          </a:solidFill>
          <a:ln w="15240">
            <a:solidFill>
              <a:srgbClr val="EAE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10328" y="9875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Snel vastleggen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10328" y="1389888"/>
            <a:ext cx="201168" cy="201168"/>
          </a:xfrm>
          <a:prstGeom prst="rect">
            <a:avLst/>
          </a:prstGeom>
          <a:solidFill>
            <a:srgbClr val="EAE788">
              <a:alpha val="30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1399032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66360" y="13716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Vluchtige notitie aanmaken (📅 dagnotitie)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10328" y="1673352"/>
            <a:ext cx="201168" cy="201168"/>
          </a:xfrm>
          <a:prstGeom prst="rect">
            <a:avLst/>
          </a:prstGeom>
          <a:solidFill>
            <a:srgbClr val="EAE788">
              <a:alpha val="30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1682496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66360" y="16550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 noteren met #tags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10328" y="1956816"/>
            <a:ext cx="201168" cy="201168"/>
          </a:xfrm>
          <a:prstGeom prst="rect">
            <a:avLst/>
          </a:prstGeom>
          <a:solidFill>
            <a:srgbClr val="EAE788">
              <a:alpha val="30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1965960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66360" y="1938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2 dagen: inbox-review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10328" y="2240280"/>
            <a:ext cx="201168" cy="201168"/>
          </a:xfrm>
          <a:prstGeom prst="rect">
            <a:avLst/>
          </a:prstGeom>
          <a:solidFill>
            <a:srgbClr val="EAE788">
              <a:alpha val="30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2249424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66360" y="22219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Verwerken naar literatuur of permanent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910328" y="2523744"/>
            <a:ext cx="201168" cy="201168"/>
          </a:xfrm>
          <a:prstGeom prst="rect">
            <a:avLst/>
          </a:prstGeom>
          <a:solidFill>
            <a:srgbClr val="EAE788">
              <a:alpha val="30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2532888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66360" y="25054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via Review-tab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017520"/>
            <a:ext cx="4114800" cy="1938528"/>
          </a:xfrm>
          <a:prstGeom prst="rect">
            <a:avLst/>
          </a:prstGeom>
          <a:solidFill>
            <a:srgbClr val="252525"/>
          </a:solidFill>
          <a:ln w="15240">
            <a:solidFill>
              <a:srgbClr val="D78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6928" y="30906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Kennisverkenning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3493008"/>
            <a:ext cx="201168" cy="201168"/>
          </a:xfrm>
          <a:prstGeom prst="rect">
            <a:avLst/>
          </a:prstGeom>
          <a:solidFill>
            <a:srgbClr val="D787FF">
              <a:alpha val="30000"/>
            </a:srgbClr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502152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" y="3474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 Kennisgraaf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6928" y="3776472"/>
            <a:ext cx="201168" cy="201168"/>
          </a:xfrm>
          <a:prstGeom prst="rect">
            <a:avLst/>
          </a:prstGeom>
          <a:solidFill>
            <a:srgbClr val="D787FF">
              <a:alpha val="30000"/>
            </a:srgbClr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3785616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" y="37581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op node → peek-panel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" y="4059936"/>
            <a:ext cx="201168" cy="201168"/>
          </a:xfrm>
          <a:prstGeom prst="rect">
            <a:avLst/>
          </a:prstGeom>
          <a:solidFill>
            <a:srgbClr val="D787FF">
              <a:alpha val="30000"/>
            </a:srgbClr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4069080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2960" y="40416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Notebook → GraphRAG analyse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6928" y="4343400"/>
            <a:ext cx="201168" cy="201168"/>
          </a:xfrm>
          <a:prstGeom prst="rect">
            <a:avLst/>
          </a:prstGeom>
          <a:solidFill>
            <a:srgbClr val="D787FF">
              <a:alpha val="30000"/>
            </a:srgbClr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4352544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2960" y="43251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Verrassende verbindingen ontdekken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6928" y="4626864"/>
            <a:ext cx="201168" cy="201168"/>
          </a:xfrm>
          <a:prstGeom prst="rect">
            <a:avLst/>
          </a:prstGeom>
          <a:solidFill>
            <a:srgbClr val="D787FF">
              <a:alpha val="30000"/>
            </a:srgbClr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" y="4636008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22960" y="46085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Synthese naar nieuwe permanente notitie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00600" y="3017520"/>
            <a:ext cx="4114800" cy="1938528"/>
          </a:xfrm>
          <a:prstGeom prst="rect">
            <a:avLst/>
          </a:prstGeom>
          <a:solidFill>
            <a:srgbClr val="252525"/>
          </a:solidFill>
          <a:ln w="15240">
            <a:solidFill>
              <a:srgbClr val="9FC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910328" y="30906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PDF lezen &amp; verwerken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910328" y="3493008"/>
            <a:ext cx="201168" cy="201168"/>
          </a:xfrm>
          <a:prstGeom prst="rect">
            <a:avLst/>
          </a:prstGeom>
          <a:solidFill>
            <a:srgbClr val="9FCA56">
              <a:alpha val="30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10328" y="3502152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66360" y="3474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openen in de bibliotheek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910328" y="3776472"/>
            <a:ext cx="201168" cy="201168"/>
          </a:xfrm>
          <a:prstGeom prst="rect">
            <a:avLst/>
          </a:prstGeom>
          <a:solidFill>
            <a:srgbClr val="9FCA56">
              <a:alpha val="30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10328" y="3785616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66360" y="37581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highlighten met kleurcodering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910328" y="4059936"/>
            <a:ext cx="201168" cy="201168"/>
          </a:xfrm>
          <a:prstGeom prst="rect">
            <a:avLst/>
          </a:prstGeom>
          <a:solidFill>
            <a:srgbClr val="9FCA56">
              <a:alpha val="30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10328" y="4069080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166360" y="40416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Leesnotitie schrijven naast de PDF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910328" y="4343400"/>
            <a:ext cx="201168" cy="201168"/>
          </a:xfrm>
          <a:prstGeom prst="rect">
            <a:avLst/>
          </a:prstGeom>
          <a:solidFill>
            <a:srgbClr val="9FCA56">
              <a:alpha val="30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10328" y="4352544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66360" y="43251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Exporteer alle annotaties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910328" y="4626864"/>
            <a:ext cx="201168" cy="201168"/>
          </a:xfrm>
          <a:prstGeom prst="rect">
            <a:avLst/>
          </a:prstGeom>
          <a:solidFill>
            <a:srgbClr val="9FCA56">
              <a:alpha val="30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10328" y="4636008"/>
            <a:ext cx="201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166360" y="46085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Literatuurnotitie in de vault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app in cijfers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1920240" cy="1097280"/>
          </a:xfrm>
          <a:prstGeom prst="rect">
            <a:avLst/>
          </a:prstGeom>
          <a:solidFill>
            <a:srgbClr val="2E2E2E"/>
          </a:solidFill>
          <a:ln w="12700">
            <a:solidFill>
              <a:srgbClr val="8AC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10128" y="960120"/>
            <a:ext cx="1920240" cy="1097280"/>
          </a:xfrm>
          <a:prstGeom prst="rect">
            <a:avLst/>
          </a:prstGeom>
          <a:solidFill>
            <a:srgbClr val="2E2E2E"/>
          </a:solidFill>
          <a:ln w="12700">
            <a:solidFill>
              <a:srgbClr val="9FC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10128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63056" y="960120"/>
            <a:ext cx="1920240" cy="1097280"/>
          </a:xfrm>
          <a:prstGeom prst="rect">
            <a:avLst/>
          </a:prstGeom>
          <a:solidFill>
            <a:srgbClr val="2E2E2E"/>
          </a:solidFill>
          <a:ln w="12700">
            <a:solidFill>
              <a:srgbClr val="EAE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63056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bouwsessies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920240" cy="1097280"/>
          </a:xfrm>
          <a:prstGeom prst="rect">
            <a:avLst/>
          </a:prstGeom>
          <a:solidFill>
            <a:srgbClr val="2E2E2E"/>
          </a:solidFill>
          <a:ln w="12700">
            <a:solidFill>
              <a:srgbClr val="D78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AI-providers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10128" y="2377440"/>
            <a:ext cx="1920240" cy="1097280"/>
          </a:xfrm>
          <a:prstGeom prst="rect">
            <a:avLst/>
          </a:prstGeom>
          <a:solidFill>
            <a:srgbClr val="2E2E2E"/>
          </a:solidFill>
          <a:ln w="12700">
            <a:solidFill>
              <a:srgbClr val="E578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0128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310128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editor-modi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3056" y="2377440"/>
            <a:ext cx="1920240" cy="1097280"/>
          </a:xfrm>
          <a:prstGeom prst="rect">
            <a:avLst/>
          </a:prstGeom>
          <a:solidFill>
            <a:srgbClr val="2E2E2E"/>
          </a:solidFill>
          <a:ln w="12700">
            <a:solidFill>
              <a:srgbClr val="85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63056" y="2423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163056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server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252525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Kerntechnologie: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4023360"/>
            <a:ext cx="1261872" cy="512064"/>
          </a:xfrm>
          <a:prstGeom prst="rect">
            <a:avLst/>
          </a:prstGeom>
          <a:solidFill>
            <a:srgbClr val="EAE788">
              <a:alpha val="18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599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47672" y="4023360"/>
            <a:ext cx="1261872" cy="512064"/>
          </a:xfrm>
          <a:prstGeom prst="rect">
            <a:avLst/>
          </a:prstGeom>
          <a:solidFill>
            <a:srgbClr val="8AC6F2">
              <a:alpha val="18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47672" y="40599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(CDN)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00984" y="4023360"/>
            <a:ext cx="1261872" cy="512064"/>
          </a:xfrm>
          <a:prstGeom prst="rect">
            <a:avLst/>
          </a:prstGeom>
          <a:solidFill>
            <a:srgbClr val="9FCA56">
              <a:alpha val="18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00984" y="40599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54296" y="4023360"/>
            <a:ext cx="1261872" cy="512064"/>
          </a:xfrm>
          <a:prstGeom prst="rect">
            <a:avLst/>
          </a:prstGeom>
          <a:solidFill>
            <a:srgbClr val="E5786D">
              <a:alpha val="18000"/>
            </a:srgbClr>
          </a:solidFill>
          <a:ln w="12700">
            <a:solidFill>
              <a:srgbClr val="E5786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40599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7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PDF.js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07608" y="4023360"/>
            <a:ext cx="1261872" cy="512064"/>
          </a:xfrm>
          <a:prstGeom prst="rect">
            <a:avLst/>
          </a:prstGeom>
          <a:solidFill>
            <a:srgbClr val="D787FF">
              <a:alpha val="18000"/>
            </a:srgbClr>
          </a:solidFill>
          <a:ln w="12700">
            <a:solidFill>
              <a:srgbClr val="D787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07608" y="40599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8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API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60920" y="4023360"/>
            <a:ext cx="1261872" cy="512064"/>
          </a:xfrm>
          <a:prstGeom prst="rect">
            <a:avLst/>
          </a:prstGeom>
          <a:solidFill>
            <a:srgbClr val="857B6F">
              <a:alpha val="18000"/>
            </a:srgbClr>
          </a:solidFill>
          <a:ln w="12700">
            <a:solidFill>
              <a:srgbClr val="857B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405993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vault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staat er nog op de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3A4046"/>
          </a:solidFill>
          <a:ln w="12700">
            <a:solidFill>
              <a:srgbClr val="3A4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2697480" cy="3749040"/>
          </a:xfrm>
          <a:prstGeom prst="rect">
            <a:avLst/>
          </a:prstGeom>
          <a:solidFill>
            <a:srgbClr val="252525"/>
          </a:solidFill>
          <a:ln w="19050">
            <a:solidFill>
              <a:srgbClr val="8AC6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97480" cy="384048"/>
          </a:xfrm>
          <a:prstGeom prst="rect">
            <a:avLst/>
          </a:prstGeom>
          <a:solidFill>
            <a:srgbClr val="8AC6F2">
              <a:alpha val="25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509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146304" cy="146304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99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Keep integratie (mobiele capture-laag)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359152"/>
            <a:ext cx="146304" cy="146304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313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Browser-extensie voor één-klik opslaan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273552"/>
            <a:ext cx="146304" cy="146304"/>
          </a:xfrm>
          <a:prstGeom prst="ellipse">
            <a:avLst/>
          </a:prstGeom>
          <a:solidFill>
            <a:srgbClr val="8AC6F2"/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227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Mobiele webpagina (/capture)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914400"/>
            <a:ext cx="2697480" cy="3749040"/>
          </a:xfrm>
          <a:prstGeom prst="rect">
            <a:avLst/>
          </a:prstGeom>
          <a:solidFill>
            <a:srgbClr val="252525"/>
          </a:solidFill>
          <a:ln w="19050">
            <a:solidFill>
              <a:srgbClr val="9FCA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914400"/>
            <a:ext cx="2697480" cy="384048"/>
          </a:xfrm>
          <a:prstGeom prst="rect">
            <a:avLst/>
          </a:prstGeom>
          <a:solidFill>
            <a:srgbClr val="9FCA56">
              <a:alpha val="25000"/>
            </a:srgbClr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9509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C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Structuur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47288" y="1444752"/>
            <a:ext cx="146304" cy="146304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399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referenties: ((blok-id)) syntax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47288" y="2359152"/>
            <a:ext cx="146304" cy="146304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313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met variabelen ({{datum}}, {{titel}})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47288" y="3273552"/>
            <a:ext cx="146304" cy="146304"/>
          </a:xfrm>
          <a:prstGeom prst="ellipse">
            <a:avLst/>
          </a:prstGeom>
          <a:solidFill>
            <a:srgbClr val="9FCA56"/>
          </a:solidFill>
          <a:ln w="12700">
            <a:solidFill>
              <a:srgbClr val="9FCA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227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Capacities-stijl objecttypen met eigen velden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3056" y="914400"/>
            <a:ext cx="2697480" cy="3749040"/>
          </a:xfrm>
          <a:prstGeom prst="rect">
            <a:avLst/>
          </a:prstGeom>
          <a:solidFill>
            <a:srgbClr val="252525"/>
          </a:solidFill>
          <a:ln w="19050">
            <a:solidFill>
              <a:srgbClr val="EAE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914400"/>
            <a:ext cx="2697480" cy="384048"/>
          </a:xfrm>
          <a:prstGeom prst="rect">
            <a:avLst/>
          </a:prstGeom>
          <a:solidFill>
            <a:srgbClr val="EAE788">
              <a:alpha val="25000"/>
            </a:srgbClr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9509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E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0216" y="1444752"/>
            <a:ext cx="146304" cy="146304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399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Exporteren als statische HTML-website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0216" y="2359152"/>
            <a:ext cx="146304" cy="146304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2313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Versiegeschiedenis per notitie (git-diff)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0216" y="3273552"/>
            <a:ext cx="146304" cy="146304"/>
          </a:xfrm>
          <a:prstGeom prst="ellipse">
            <a:avLst/>
          </a:prstGeom>
          <a:solidFill>
            <a:srgbClr val="EAE788"/>
          </a:solidFill>
          <a:ln w="12700">
            <a:solidFill>
              <a:srgbClr val="EAE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32278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Highlight-exportpagina (Readwise-alternatief)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Aanbevelingen gebaseerd op analyse van 27 PKM-tools (Obsidian, Roam, Logseq, Capacities, Readwise, Tana...)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8AC6F2">
              <a:alpha val="7000"/>
            </a:srgbClr>
          </a:solidFill>
          <a:ln w="12700">
            <a:solidFill>
              <a:srgbClr val="8AC6F2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9FCA56">
              <a:alpha val="6000"/>
            </a:srgbClr>
          </a:solidFill>
          <a:ln w="12700">
            <a:solidFill>
              <a:srgbClr val="9FCA56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kennis.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regels. Jouw machine.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5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 lokaal · Privacy-first · Doorlopend in ontwikkeling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461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Lokale AI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70048" y="32461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32461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 GraphRAG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08576" y="32461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32461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PDF-bibliotheek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47104" y="32461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32461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Kennisgraaf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033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VIM editor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70048" y="37033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0048" y="37033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Boeken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08576" y="37033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37033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Drie-lagen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47104" y="3703320"/>
            <a:ext cx="1810512" cy="329184"/>
          </a:xfrm>
          <a:prstGeom prst="rect">
            <a:avLst/>
          </a:prstGeom>
          <a:solidFill>
            <a:srgbClr val="8AC6F2">
              <a:alpha val="16000"/>
            </a:srgbClr>
          </a:solidFill>
          <a:ln w="12700">
            <a:solidFill>
              <a:srgbClr val="8AC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37033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Split-screen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57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Vault: /Users/hj/Documents/Zettelkast  ·  Server: python3 server.py --port 8080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Zettelkasten VIM — Persoonlijk Kennismanagement</dc:title>
  <dc:subject>PptxGenJS Presentation</dc:subject>
  <dc:creator>Henk-Jan</dc:creator>
  <cp:lastModifiedBy>Henk-Jan</cp:lastModifiedBy>
  <cp:revision>1</cp:revision>
  <dcterms:created xsi:type="dcterms:W3CDTF">2026-05-03T11:32:39Z</dcterms:created>
  <dcterms:modified xsi:type="dcterms:W3CDTF">2026-05-03T11:32:39Z</dcterms:modified>
</cp:coreProperties>
</file>