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11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AC6F2">
              <a:alpha val="8000"/>
            </a:srgbClr>
          </a:solidFill>
          <a:ln w="12700">
            <a:solidFill>
              <a:srgbClr val="8AC6F2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9FCA56">
              <a:alpha val="7000"/>
            </a:srgbClr>
          </a:solidFill>
          <a:ln w="12700">
            <a:solidFill>
              <a:srgbClr val="9FCA5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74320"/>
          </a:xfrm>
          <a:prstGeom prst="rect">
            <a:avLst/>
          </a:prstGeom>
          <a:solidFill>
            <a:srgbClr val="8AC6F2">
              <a:alpha val="2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KENNISMANAGEMENT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kennisbasis. Lokaal. Privé. Met AI.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645920" cy="347472"/>
          </a:xfrm>
          <a:prstGeom prst="rect">
            <a:avLst/>
          </a:prstGeom>
          <a:solidFill>
            <a:srgbClr val="8AC6F2">
              <a:alpha val="25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71323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1755648"/>
            <a:ext cx="1645920" cy="347472"/>
          </a:xfrm>
          <a:prstGeom prst="rect">
            <a:avLst/>
          </a:prstGeom>
          <a:solidFill>
            <a:srgbClr val="9FCA56">
              <a:alpha val="25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713232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2414016"/>
            <a:ext cx="1645920" cy="347472"/>
          </a:xfrm>
          <a:prstGeom prst="rect">
            <a:avLst/>
          </a:prstGeom>
          <a:solidFill>
            <a:srgbClr val="EAE788">
              <a:alpha val="25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7132320" y="2414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072384"/>
            <a:ext cx="1645920" cy="347472"/>
          </a:xfrm>
          <a:prstGeom prst="rect">
            <a:avLst/>
          </a:prstGeom>
          <a:solidFill>
            <a:srgbClr val="E5786D">
              <a:alpha val="25000"/>
            </a:srgbClr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7132320" y="3072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Annotaties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3730752"/>
            <a:ext cx="1645920" cy="347472"/>
          </a:xfrm>
          <a:prstGeom prst="rect">
            <a:avLst/>
          </a:prstGeom>
          <a:solidFill>
            <a:srgbClr val="D787FF">
              <a:alpha val="25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7132320" y="3730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10+ · Voortdurend in ontwikkeling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 met bestaande PKM-tools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E5786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" cy="1508760"/>
          </a:xfrm>
          <a:prstGeom prst="rect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Cloud-afhankelijk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62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Roam, Evernote — al jouw kennis op externe servers. Wat als de service stopt?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96012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54864" cy="1508760"/>
          </a:xfrm>
          <a:prstGeom prst="rect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3447288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Dure abonnementen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47288" y="1362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Sync €8/mnd, Roam $15/mnd, Notion Plus €8/mnd. Kosten stapelen zich op.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96012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6163056" y="960120"/>
            <a:ext cx="54864" cy="1508760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300216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Plugin-overhead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0216" y="1362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vereist tientallen plugins voor basisfunctionaliteit. Complexe setup.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4864" cy="1508760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59436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Geen echte AI-integratie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05409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een add-on, niet ingebakken. Geen GraphRAG, geen lokale modellen.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265176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3310128" y="2651760"/>
            <a:ext cx="54864" cy="150876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447288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Silo's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47288" y="305409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Notities, PDF's en kanban staan apart. Geen geïntegreerd kennissysteem.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265176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E5786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6163056" y="2651760"/>
            <a:ext cx="54864" cy="1508760"/>
          </a:xfrm>
          <a:prstGeom prst="rect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6300216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0216" y="305409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gedachten, bronnen en inzichten worden geanalyseerd door derden.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oplossing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97764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De Zettelkasten methode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896112" y="1408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Vluchtige notities — snel vastleggen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56816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896112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Literatuurnotities — verwerken van bronnen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notities — één idee, atomair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896112" y="2889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Index-notities — navigatiekaarten (MOC)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896112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— review systeem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896112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Bidirectionele links — kennisnetwerk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3931920" cy="397764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 implementatie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63040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5193792" y="1408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 </a:t>
            </a: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Alle data op jouw Mac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956816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5193792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React </a:t>
            </a: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Geen framework overhead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0592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5193792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 </a:t>
            </a: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Lichtgewicht, poort 8080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44368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5193792" y="2889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vault </a:t>
            </a: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Git-compatible, toekomstbestendig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438144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193792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Jan.ai </a:t>
            </a: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Lokale AI-modellen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931920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5193792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integratie </a:t>
            </a: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Ingebouwde PDF-bibliotheek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idee naar volledig PKM-systeem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8229600" cy="45720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1207008" y="2651760"/>
            <a:ext cx="201168" cy="201168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1298448" y="1645920"/>
            <a:ext cx="18288" cy="1005840"/>
          </a:xfrm>
          <a:prstGeom prst="rect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45720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857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53035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canvas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1–2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canvas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2651760"/>
            <a:ext cx="201168" cy="201168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Shape 11"/>
          <p:cNvSpPr/>
          <p:nvPr/>
        </p:nvSpPr>
        <p:spPr>
          <a:xfrm>
            <a:off x="2944368" y="1645920"/>
            <a:ext cx="18288" cy="1005840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210312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217627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3–4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0312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Tagbeheer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98848" y="2651760"/>
            <a:ext cx="201168" cy="201168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4590288" y="1645920"/>
            <a:ext cx="18288" cy="100584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374904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382219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4904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5–6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PDF-viewer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highlights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import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2651760"/>
            <a:ext cx="201168" cy="201168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6236208" y="1645920"/>
            <a:ext cx="18288" cy="1005840"/>
          </a:xfrm>
          <a:prstGeom prst="rect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Shape 26"/>
          <p:cNvSpPr/>
          <p:nvPr/>
        </p:nvSpPr>
        <p:spPr>
          <a:xfrm>
            <a:off x="539496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46811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Canvas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6811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9496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7–8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9496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90688" y="2651760"/>
            <a:ext cx="201168" cy="201168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Shape 32"/>
          <p:cNvSpPr/>
          <p:nvPr/>
        </p:nvSpPr>
        <p:spPr>
          <a:xfrm>
            <a:off x="7882128" y="1645920"/>
            <a:ext cx="18288" cy="1005840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Shape 33"/>
          <p:cNvSpPr/>
          <p:nvPr/>
        </p:nvSpPr>
        <p:spPr>
          <a:xfrm>
            <a:off x="704088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711403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PKM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1403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bibliotheek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4088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9–10+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4088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Boeken-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bibliotheek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Drie-lagen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index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leesnotities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86000" y="4709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3 naar 40+ functies in 10 bouwsessies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functionaliteit in één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2697480" cy="347472"/>
          </a:xfrm>
          <a:prstGeom prst="rect">
            <a:avLst/>
          </a:prstGeom>
          <a:solidFill>
            <a:srgbClr val="8AC6F2">
              <a:alpha val="25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48640" y="9235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Schrijven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713232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VIM-editor op canvas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655064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Outline-editor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713232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preview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221992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713232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Drie-lagen annotaties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505456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713232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&amp; templates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8961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8" name="Shape 16"/>
          <p:cNvSpPr/>
          <p:nvPr/>
        </p:nvSpPr>
        <p:spPr>
          <a:xfrm>
            <a:off x="3310128" y="896112"/>
            <a:ext cx="2697480" cy="347472"/>
          </a:xfrm>
          <a:prstGeom prst="rect">
            <a:avLst/>
          </a:prstGeom>
          <a:solidFill>
            <a:srgbClr val="9FCA56">
              <a:alpha val="25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401568" y="9235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Ontdekken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9856" y="1371600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3566160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zoeken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19856" y="1655064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566160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 + GraphRAG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9856" y="1938528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356616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9856" y="2221992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3566160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Canvas/Whiteboard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9856" y="2505456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3566160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Query-paneel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8961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1" name="Shape 29"/>
          <p:cNvSpPr/>
          <p:nvPr/>
        </p:nvSpPr>
        <p:spPr>
          <a:xfrm>
            <a:off x="6163056" y="896112"/>
            <a:ext cx="2697480" cy="347472"/>
          </a:xfrm>
          <a:prstGeom prst="rect">
            <a:avLst/>
          </a:prstGeom>
          <a:solidFill>
            <a:srgbClr val="EAE788">
              <a:alpha val="25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2" name="Text 30"/>
          <p:cNvSpPr/>
          <p:nvPr/>
        </p:nvSpPr>
        <p:spPr>
          <a:xfrm>
            <a:off x="6254496" y="9235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Bibliotheek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2784" y="1371600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6419088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PDF-viewer + annotaties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72784" y="1655064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6419088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Leesnotitie-zijpaneel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72784" y="1938528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8" name="Text 36"/>
          <p:cNvSpPr/>
          <p:nvPr/>
        </p:nvSpPr>
        <p:spPr>
          <a:xfrm>
            <a:off x="6419088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Boeken-bibliotheek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2221992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Text 38"/>
          <p:cNvSpPr/>
          <p:nvPr/>
        </p:nvSpPr>
        <p:spPr>
          <a:xfrm>
            <a:off x="6419088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Leeslijst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72784" y="2505456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2" name="Text 40"/>
          <p:cNvSpPr/>
          <p:nvPr/>
        </p:nvSpPr>
        <p:spPr>
          <a:xfrm>
            <a:off x="6419088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29535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44" name="Shape 42"/>
          <p:cNvSpPr/>
          <p:nvPr/>
        </p:nvSpPr>
        <p:spPr>
          <a:xfrm>
            <a:off x="457200" y="2953512"/>
            <a:ext cx="2697480" cy="347472"/>
          </a:xfrm>
          <a:prstGeom prst="rect">
            <a:avLst/>
          </a:prstGeom>
          <a:solidFill>
            <a:srgbClr val="D787FF">
              <a:alpha val="25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548640" y="29809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6928" y="3429000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7" name="Text 45"/>
          <p:cNvSpPr/>
          <p:nvPr/>
        </p:nvSpPr>
        <p:spPr>
          <a:xfrm>
            <a:off x="713232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LLM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3712464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9" name="Text 47"/>
          <p:cNvSpPr/>
          <p:nvPr/>
        </p:nvSpPr>
        <p:spPr>
          <a:xfrm>
            <a:off x="71323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context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" y="3995928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Text 49"/>
          <p:cNvSpPr/>
          <p:nvPr/>
        </p:nvSpPr>
        <p:spPr>
          <a:xfrm>
            <a:off x="713232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Lokaal: Ollama/Jan.ai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4279392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3" name="Text 51"/>
          <p:cNvSpPr/>
          <p:nvPr/>
        </p:nvSpPr>
        <p:spPr>
          <a:xfrm>
            <a:off x="713232" y="4233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Claude/Gemini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4562856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Text 53"/>
          <p:cNvSpPr/>
          <p:nvPr/>
        </p:nvSpPr>
        <p:spPr>
          <a:xfrm>
            <a:off x="713232" y="4517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URL-import + samenvatting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10128" y="29535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E5786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7" name="Shape 55"/>
          <p:cNvSpPr/>
          <p:nvPr/>
        </p:nvSpPr>
        <p:spPr>
          <a:xfrm>
            <a:off x="3310128" y="2953512"/>
            <a:ext cx="2697480" cy="347472"/>
          </a:xfrm>
          <a:prstGeom prst="rect">
            <a:avLst/>
          </a:prstGeom>
          <a:solidFill>
            <a:srgbClr val="E5786D">
              <a:alpha val="25000"/>
            </a:srgbClr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8" name="Text 56"/>
          <p:cNvSpPr/>
          <p:nvPr/>
        </p:nvSpPr>
        <p:spPr>
          <a:xfrm>
            <a:off x="3401568" y="29809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Invoer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419856" y="3429000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0" name="Text 58"/>
          <p:cNvSpPr/>
          <p:nvPr/>
        </p:nvSpPr>
        <p:spPr>
          <a:xfrm>
            <a:off x="3566160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Substack import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19856" y="3712464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2" name="Text 60"/>
          <p:cNvSpPr/>
          <p:nvPr/>
        </p:nvSpPr>
        <p:spPr>
          <a:xfrm>
            <a:off x="3566160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import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19856" y="3995928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4" name="Text 62"/>
          <p:cNvSpPr/>
          <p:nvPr/>
        </p:nvSpPr>
        <p:spPr>
          <a:xfrm>
            <a:off x="3566160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Word/PowerPoint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419856" y="4279392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6" name="Text 64"/>
          <p:cNvSpPr/>
          <p:nvPr/>
        </p:nvSpPr>
        <p:spPr>
          <a:xfrm>
            <a:off x="3566160" y="4233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 via Bol.com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19856" y="4562856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8" name="Text 66"/>
          <p:cNvSpPr/>
          <p:nvPr/>
        </p:nvSpPr>
        <p:spPr>
          <a:xfrm>
            <a:off x="3566160" y="4517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import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63056" y="29535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857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70" name="Shape 68"/>
          <p:cNvSpPr/>
          <p:nvPr/>
        </p:nvSpPr>
        <p:spPr>
          <a:xfrm>
            <a:off x="6163056" y="2953512"/>
            <a:ext cx="2697480" cy="347472"/>
          </a:xfrm>
          <a:prstGeom prst="rect">
            <a:avLst/>
          </a:prstGeom>
          <a:solidFill>
            <a:srgbClr val="857B6F">
              <a:alpha val="25000"/>
            </a:srgbClr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1" name="Text 69"/>
          <p:cNvSpPr/>
          <p:nvPr/>
        </p:nvSpPr>
        <p:spPr>
          <a:xfrm>
            <a:off x="6254496" y="29809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Beheer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272784" y="3429000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3" name="Text 71"/>
          <p:cNvSpPr/>
          <p:nvPr/>
        </p:nvSpPr>
        <p:spPr>
          <a:xfrm>
            <a:off x="6419088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Tag-manager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272784" y="3712464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5" name="Text 73"/>
          <p:cNvSpPr/>
          <p:nvPr/>
        </p:nvSpPr>
        <p:spPr>
          <a:xfrm>
            <a:off x="6419088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Statistieken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272784" y="3995928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7" name="Text 75"/>
          <p:cNvSpPr/>
          <p:nvPr/>
        </p:nvSpPr>
        <p:spPr>
          <a:xfrm>
            <a:off x="6419088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opschonen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272784" y="4279392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9" name="Text 77"/>
          <p:cNvSpPr/>
          <p:nvPr/>
        </p:nvSpPr>
        <p:spPr>
          <a:xfrm>
            <a:off x="6419088" y="4233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API-sleutels beheer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272784" y="4562856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1" name="Text 79"/>
          <p:cNvSpPr/>
          <p:nvPr/>
        </p:nvSpPr>
        <p:spPr>
          <a:xfrm>
            <a:off x="6419088" y="4517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modus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&amp; Notities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5029200" cy="3566160"/>
          </a:xfrm>
          <a:prstGeom prst="rect">
            <a:avLst/>
          </a:prstGeom>
          <a:solidFill>
            <a:srgbClr val="111111"/>
          </a:solidFill>
          <a:ln w="12700">
            <a:solidFill>
              <a:srgbClr val="3A404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029200" cy="256032"/>
          </a:xfrm>
          <a:prstGeom prst="rect">
            <a:avLst/>
          </a:prstGeom>
          <a:solidFill>
            <a:srgbClr val="8AC6F2">
              <a:alpha val="2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02920" y="41788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|  Kennismanagement.md  |  p.12  |  gemma3:12b 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E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Kennismanagement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52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Een **Zettelkasten** is een systeem waarbij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elke notitie atomair en zelfstandig is.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482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Kernprincipes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78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843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[[Atomaire notities]] zijn de basis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[Verbindingen]{.eigen} maken kennis levend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3741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[Bronnen]{.bron} altijd vastleggen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9044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#zettelkasten #methode #kennismanagement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843784"/>
            <a:ext cx="109728" cy="201168"/>
          </a:xfrm>
          <a:prstGeom prst="rect">
            <a:avLst/>
          </a:prstGeom>
          <a:solidFill>
            <a:srgbClr val="EAE788">
              <a:alpha val="70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Shape 18"/>
          <p:cNvSpPr/>
          <p:nvPr/>
        </p:nvSpPr>
        <p:spPr>
          <a:xfrm>
            <a:off x="5669280" y="89611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1" name="Shape 19"/>
          <p:cNvSpPr/>
          <p:nvPr/>
        </p:nvSpPr>
        <p:spPr>
          <a:xfrm>
            <a:off x="5669280" y="896112"/>
            <a:ext cx="64008" cy="941832"/>
          </a:xfrm>
          <a:prstGeom prst="rect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5833872" y="10058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VIM-modi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33872" y="129844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INSERT · VISUAL · COMMAND. Volledige VIM-keybindings inclusief macros en marks.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94767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5" name="Shape 23"/>
          <p:cNvSpPr/>
          <p:nvPr/>
        </p:nvSpPr>
        <p:spPr>
          <a:xfrm>
            <a:off x="5669280" y="1947672"/>
            <a:ext cx="64008" cy="941832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5833872" y="20574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Outline-editor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33872" y="235000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Tab/Shift+Tab voor indenteren. Auto-bullets op Enter. Wisselen zonder dataverlies.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99923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Shape 27"/>
          <p:cNvSpPr/>
          <p:nvPr/>
        </p:nvSpPr>
        <p:spPr>
          <a:xfrm>
            <a:off x="5669280" y="2999232"/>
            <a:ext cx="64008" cy="9418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5833872" y="3108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Drie-lagen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33872" y="340156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[tekst]{.bron} · [tekst]{.kritisch} · [tekst]{.eigen}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VIM: \b · \k · \e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405079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3" name="Shape 31"/>
          <p:cNvSpPr/>
          <p:nvPr/>
        </p:nvSpPr>
        <p:spPr>
          <a:xfrm>
            <a:off x="5669280" y="4050792"/>
            <a:ext cx="64008" cy="941832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5833872" y="4160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33872" y="445312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Vluchtig → 📖 Literatuur → 💎 Permanent → 🗺 Index. Promoveer-suggestie na 2 dagen.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 &amp; GraphRAG — het unieke 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2834640" y="2578608"/>
            <a:ext cx="0" cy="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2834640" y="2578608"/>
            <a:ext cx="1097280" cy="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Shape 4"/>
          <p:cNvSpPr/>
          <p:nvPr/>
        </p:nvSpPr>
        <p:spPr>
          <a:xfrm>
            <a:off x="2834640" y="2578608"/>
            <a:ext cx="1097280" cy="82296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Shape 5"/>
          <p:cNvSpPr/>
          <p:nvPr/>
        </p:nvSpPr>
        <p:spPr>
          <a:xfrm>
            <a:off x="1554480" y="1755648"/>
            <a:ext cx="0" cy="146304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Shape 6"/>
          <p:cNvSpPr/>
          <p:nvPr/>
        </p:nvSpPr>
        <p:spPr>
          <a:xfrm>
            <a:off x="1554480" y="1755648"/>
            <a:ext cx="731520" cy="201168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Shape 7"/>
          <p:cNvSpPr/>
          <p:nvPr/>
        </p:nvSpPr>
        <p:spPr>
          <a:xfrm>
            <a:off x="3931920" y="1572768"/>
            <a:ext cx="914400" cy="73152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Shape 8"/>
          <p:cNvSpPr/>
          <p:nvPr/>
        </p:nvSpPr>
        <p:spPr>
          <a:xfrm>
            <a:off x="2834640" y="2578608"/>
            <a:ext cx="2011680" cy="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Shape 9"/>
          <p:cNvSpPr/>
          <p:nvPr/>
        </p:nvSpPr>
        <p:spPr>
          <a:xfrm>
            <a:off x="1554480" y="1755648"/>
            <a:ext cx="548640" cy="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Shape 10"/>
          <p:cNvSpPr/>
          <p:nvPr/>
        </p:nvSpPr>
        <p:spPr>
          <a:xfrm>
            <a:off x="2542032" y="2249424"/>
            <a:ext cx="585216" cy="585216"/>
          </a:xfrm>
          <a:prstGeom prst="ellipse">
            <a:avLst/>
          </a:prstGeom>
          <a:solidFill>
            <a:srgbClr val="EAE788">
              <a:alpha val="40000"/>
            </a:srgbClr>
          </a:solidFill>
          <a:ln w="1905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2468880" y="2834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53312" y="1517904"/>
            <a:ext cx="402336" cy="402336"/>
          </a:xfrm>
          <a:prstGeom prst="ellipse">
            <a:avLst/>
          </a:prstGeom>
          <a:solidFill>
            <a:srgbClr val="8AC6F2">
              <a:alpha val="40000"/>
            </a:srgbClr>
          </a:solidFill>
          <a:ln w="1905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1188720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30752" y="1335024"/>
            <a:ext cx="402336" cy="402336"/>
          </a:xfrm>
          <a:prstGeom prst="ellipse">
            <a:avLst/>
          </a:prstGeom>
          <a:solidFill>
            <a:srgbClr val="8AC6F2">
              <a:alpha val="40000"/>
            </a:srgbClr>
          </a:solidFill>
          <a:ln w="1905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356616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24128" y="3017520"/>
            <a:ext cx="329184" cy="329184"/>
          </a:xfrm>
          <a:prstGeom prst="ellipse">
            <a:avLst/>
          </a:prstGeom>
          <a:solidFill>
            <a:srgbClr val="9FCA56">
              <a:alpha val="40000"/>
            </a:srgbClr>
          </a:solidFill>
          <a:ln w="1905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822960" y="33467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21408" y="3566160"/>
            <a:ext cx="329184" cy="329184"/>
          </a:xfrm>
          <a:prstGeom prst="ellipse">
            <a:avLst/>
          </a:prstGeom>
          <a:solidFill>
            <a:srgbClr val="9FCA56">
              <a:alpha val="40000"/>
            </a:srgbClr>
          </a:solidFill>
          <a:ln w="1905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1920240" y="38953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30752" y="3163824"/>
            <a:ext cx="402336" cy="402336"/>
          </a:xfrm>
          <a:prstGeom prst="ellipse">
            <a:avLst/>
          </a:prstGeom>
          <a:solidFill>
            <a:srgbClr val="D787FF">
              <a:alpha val="40000"/>
            </a:srgbClr>
          </a:solidFill>
          <a:ln w="1905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3566160" y="3566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Graaf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81728" y="2103120"/>
            <a:ext cx="329184" cy="329184"/>
          </a:xfrm>
          <a:prstGeom prst="ellipse">
            <a:avLst/>
          </a:prstGeom>
          <a:solidFill>
            <a:srgbClr val="857B6F">
              <a:alpha val="40000"/>
            </a:srgbClr>
          </a:solidFill>
          <a:ln w="1905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4480560" y="24323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56816" y="1115568"/>
            <a:ext cx="292608" cy="292608"/>
          </a:xfrm>
          <a:prstGeom prst="ellipse">
            <a:avLst/>
          </a:prstGeom>
          <a:solidFill>
            <a:srgbClr val="857B6F">
              <a:alpha val="40000"/>
            </a:srgbClr>
          </a:solidFill>
          <a:ln w="1905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1737360" y="14081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868680"/>
            <a:ext cx="3566160" cy="4023360"/>
          </a:xfrm>
          <a:prstGeom prst="rect">
            <a:avLst/>
          </a:prstGeom>
          <a:solidFill>
            <a:srgbClr val="252525"/>
          </a:solidFill>
          <a:ln w="1905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2578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 GraphRAG — AI met graafcontext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49240" y="1444752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5349240" y="1463040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50992" y="14264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een vraag in het Notebook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2066544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5349240" y="2084832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50992" y="20482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zoekt top-8 relevante notities via TF-IDF + graafstructuur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2688336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5349240" y="2706624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50992" y="26700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Geselecteerde nodes + buren + community als context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3310128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0" name="Text 38"/>
          <p:cNvSpPr/>
          <p:nvPr/>
        </p:nvSpPr>
        <p:spPr>
          <a:xfrm>
            <a:off x="5349240" y="332841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32918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antwoordt met volledige kennisbasis als achtergrond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924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Snelknoppen: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4924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Overzicht vault  ·  🔍 Kennishiaten  ·  💡 Verrassende links  ·  📈 Sterke notities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4526280"/>
            <a:ext cx="4389120" cy="292608"/>
          </a:xfrm>
          <a:prstGeom prst="rect">
            <a:avLst/>
          </a:prstGeom>
          <a:solidFill>
            <a:srgbClr val="EAE788">
              <a:alpha val="18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594360" y="45537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Uniek: geen enkele andere PKM-tool heeft ingebouwde GraphRAG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PDF-bibliotheek &amp; Leesnotities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65176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2651760" cy="365760"/>
          </a:xfrm>
          <a:prstGeom prst="rect">
            <a:avLst/>
          </a:prstGeom>
          <a:solidFill>
            <a:srgbClr val="EAE788">
              <a:alpha val="22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48640" y="923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Kleurcodering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2423160" cy="548640"/>
          </a:xfrm>
          <a:prstGeom prst="rect">
            <a:avLst/>
          </a:prstGeom>
          <a:solidFill>
            <a:srgbClr val="EAE788">
              <a:alpha val="18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621792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18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Letterlijk citaat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2423160" cy="548640"/>
          </a:xfrm>
          <a:prstGeom prst="rect">
            <a:avLst/>
          </a:prstGeom>
          <a:solidFill>
            <a:srgbClr val="8AC6F2">
              <a:alpha val="18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21792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Blauw · Bron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276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{.bron} annotatie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688336"/>
            <a:ext cx="2423160" cy="548640"/>
          </a:xfrm>
          <a:prstGeom prst="rect">
            <a:avLst/>
          </a:prstGeom>
          <a:solidFill>
            <a:srgbClr val="E5786D">
              <a:alpha val="18000"/>
            </a:srgbClr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21792" y="2715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· Kritisch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935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{.kritisch} annotatie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2423160" cy="548640"/>
          </a:xfrm>
          <a:prstGeom prst="rect">
            <a:avLst/>
          </a:prstGeom>
          <a:solidFill>
            <a:srgbClr val="9FCA56">
              <a:alpha val="18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621792" y="33741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· Eigen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593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{.eigen} annotatie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4005072"/>
            <a:ext cx="2423160" cy="548640"/>
          </a:xfrm>
          <a:prstGeom prst="rect">
            <a:avLst/>
          </a:prstGeom>
          <a:solidFill>
            <a:srgbClr val="D787FF">
              <a:alpha val="18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621792" y="4032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Paars · Vraag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4251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vraag / onduidelijk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896112"/>
            <a:ext cx="265176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3291840" y="896112"/>
            <a:ext cx="2651760" cy="365760"/>
          </a:xfrm>
          <a:prstGeom prst="rect">
            <a:avLst/>
          </a:prstGeom>
          <a:solidFill>
            <a:srgbClr val="8AC6F2">
              <a:alpha val="22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3383280" y="923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Leesnotitie-zijpaneel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9856" y="1353312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◀✏ rechts van de PDF voor een apart notitiepad: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Schrijf Markdown terwijl je leest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p.12 — voeg paginakopregel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citaat — geselecteerde tekst als blockquote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Opslaan als Zettelkasten-notitie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Laadt automatisch bij heropenen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896112"/>
            <a:ext cx="265176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7" name="Shape 25"/>
          <p:cNvSpPr/>
          <p:nvPr/>
        </p:nvSpPr>
        <p:spPr>
          <a:xfrm>
            <a:off x="6126480" y="896112"/>
            <a:ext cx="2651760" cy="365760"/>
          </a:xfrm>
          <a:prstGeom prst="rect">
            <a:avLst/>
          </a:prstGeom>
          <a:solidFill>
            <a:srgbClr val="9FCA56">
              <a:alpha val="22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6217920" y="923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Annotaties exporteren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1353312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knop bundelt ALLE highlights als literatuurnotitie: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Gegroepeerd per pagina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Citaten als &gt; blockquotes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Kleurmarkeringen als {.bron/.kritisch/.eigen}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Leesnotitie onderaan toegevoegd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klaar voor Zettelkasten-verwerking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Positionering vs. andere PKM-tools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87168" y="914400"/>
            <a:ext cx="118872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2532888" y="9326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75888" y="914400"/>
            <a:ext cx="118872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3721608" y="9326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64608" y="914400"/>
            <a:ext cx="105156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4910328" y="9326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16168" y="914400"/>
            <a:ext cx="105156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961888" y="9326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Logseq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67728" y="914400"/>
            <a:ext cx="1463040" cy="438912"/>
          </a:xfrm>
          <a:prstGeom prst="rect">
            <a:avLst/>
          </a:prstGeom>
          <a:solidFill>
            <a:srgbClr val="8AC6F2"/>
          </a:solidFill>
          <a:ln w="635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7013448" y="9326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35331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502920" y="13807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87168" y="135331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2532888" y="13807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75888" y="135331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3721608" y="13807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135331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4910328" y="13807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16168" y="135331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5961888" y="13807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67728" y="135331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7013448" y="138074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167335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502920" y="17007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167335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2532888" y="17007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✓*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75888" y="167335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3721608" y="17007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64608" y="167335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Text 33"/>
          <p:cNvSpPr/>
          <p:nvPr/>
        </p:nvSpPr>
        <p:spPr>
          <a:xfrm>
            <a:off x="4910328" y="17007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✗*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16168" y="167335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7" name="Text 35"/>
          <p:cNvSpPr/>
          <p:nvPr/>
        </p:nvSpPr>
        <p:spPr>
          <a:xfrm>
            <a:off x="5961888" y="17007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67728" y="167335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9" name="Text 37"/>
          <p:cNvSpPr/>
          <p:nvPr/>
        </p:nvSpPr>
        <p:spPr>
          <a:xfrm>
            <a:off x="7013448" y="170078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199339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Text 39"/>
          <p:cNvSpPr/>
          <p:nvPr/>
        </p:nvSpPr>
        <p:spPr>
          <a:xfrm>
            <a:off x="502920" y="202082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Ingebouwde 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87168" y="199339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3" name="Text 41"/>
          <p:cNvSpPr/>
          <p:nvPr/>
        </p:nvSpPr>
        <p:spPr>
          <a:xfrm>
            <a:off x="2532888" y="20208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75888" y="199339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5" name="Text 43"/>
          <p:cNvSpPr/>
          <p:nvPr/>
        </p:nvSpPr>
        <p:spPr>
          <a:xfrm>
            <a:off x="3721608" y="20208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Beperkt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64608" y="199339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7" name="Text 45"/>
          <p:cNvSpPr/>
          <p:nvPr/>
        </p:nvSpPr>
        <p:spPr>
          <a:xfrm>
            <a:off x="4910328" y="20208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16168" y="199339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9" name="Text 47"/>
          <p:cNvSpPr/>
          <p:nvPr/>
        </p:nvSpPr>
        <p:spPr>
          <a:xfrm>
            <a:off x="5961888" y="20208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67728" y="199339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1" name="Text 49"/>
          <p:cNvSpPr/>
          <p:nvPr/>
        </p:nvSpPr>
        <p:spPr>
          <a:xfrm>
            <a:off x="7013448" y="20208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231343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3" name="Text 51"/>
          <p:cNvSpPr/>
          <p:nvPr/>
        </p:nvSpPr>
        <p:spPr>
          <a:xfrm>
            <a:off x="502920" y="234086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87168" y="231343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5" name="Text 53"/>
          <p:cNvSpPr/>
          <p:nvPr/>
        </p:nvSpPr>
        <p:spPr>
          <a:xfrm>
            <a:off x="2532888" y="23408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231343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7" name="Text 55"/>
          <p:cNvSpPr/>
          <p:nvPr/>
        </p:nvSpPr>
        <p:spPr>
          <a:xfrm>
            <a:off x="3721608" y="23408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64608" y="231343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9" name="Text 57"/>
          <p:cNvSpPr/>
          <p:nvPr/>
        </p:nvSpPr>
        <p:spPr>
          <a:xfrm>
            <a:off x="4910328" y="23408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16168" y="231343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1" name="Text 59"/>
          <p:cNvSpPr/>
          <p:nvPr/>
        </p:nvSpPr>
        <p:spPr>
          <a:xfrm>
            <a:off x="5961888" y="23408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67728" y="231343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3" name="Text 61"/>
          <p:cNvSpPr/>
          <p:nvPr/>
        </p:nvSpPr>
        <p:spPr>
          <a:xfrm>
            <a:off x="7013448" y="234086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263347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5" name="Text 63"/>
          <p:cNvSpPr/>
          <p:nvPr/>
        </p:nvSpPr>
        <p:spPr>
          <a:xfrm>
            <a:off x="502920" y="26609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487168" y="263347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7" name="Text 65"/>
          <p:cNvSpPr/>
          <p:nvPr/>
        </p:nvSpPr>
        <p:spPr>
          <a:xfrm>
            <a:off x="2532888" y="26609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75888" y="263347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9" name="Text 67"/>
          <p:cNvSpPr/>
          <p:nvPr/>
        </p:nvSpPr>
        <p:spPr>
          <a:xfrm>
            <a:off x="3721608" y="26609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64608" y="263347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1" name="Text 69"/>
          <p:cNvSpPr/>
          <p:nvPr/>
        </p:nvSpPr>
        <p:spPr>
          <a:xfrm>
            <a:off x="4910328" y="26609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916168" y="263347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3" name="Text 71"/>
          <p:cNvSpPr/>
          <p:nvPr/>
        </p:nvSpPr>
        <p:spPr>
          <a:xfrm>
            <a:off x="5961888" y="26609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67728" y="263347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5" name="Text 73"/>
          <p:cNvSpPr/>
          <p:nvPr/>
        </p:nvSpPr>
        <p:spPr>
          <a:xfrm>
            <a:off x="7013448" y="266090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7200" y="295351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7" name="Text 75"/>
          <p:cNvSpPr/>
          <p:nvPr/>
        </p:nvSpPr>
        <p:spPr>
          <a:xfrm>
            <a:off x="502920" y="29809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PDF-bibliotheek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487168" y="295351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9" name="Text 77"/>
          <p:cNvSpPr/>
          <p:nvPr/>
        </p:nvSpPr>
        <p:spPr>
          <a:xfrm>
            <a:off x="2532888" y="29809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75888" y="295351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1" name="Text 79"/>
          <p:cNvSpPr/>
          <p:nvPr/>
        </p:nvSpPr>
        <p:spPr>
          <a:xfrm>
            <a:off x="3721608" y="29809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64608" y="295351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3" name="Text 81"/>
          <p:cNvSpPr/>
          <p:nvPr/>
        </p:nvSpPr>
        <p:spPr>
          <a:xfrm>
            <a:off x="4910328" y="29809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916168" y="295351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5" name="Text 83"/>
          <p:cNvSpPr/>
          <p:nvPr/>
        </p:nvSpPr>
        <p:spPr>
          <a:xfrm>
            <a:off x="5961888" y="29809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67728" y="295351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7" name="Text 85"/>
          <p:cNvSpPr/>
          <p:nvPr/>
        </p:nvSpPr>
        <p:spPr>
          <a:xfrm>
            <a:off x="7013448" y="298094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57200" y="327355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9" name="Text 87"/>
          <p:cNvSpPr/>
          <p:nvPr/>
        </p:nvSpPr>
        <p:spPr>
          <a:xfrm>
            <a:off x="502920" y="33009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AI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487168" y="327355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1" name="Text 89"/>
          <p:cNvSpPr/>
          <p:nvPr/>
        </p:nvSpPr>
        <p:spPr>
          <a:xfrm>
            <a:off x="2532888" y="33009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675888" y="327355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3" name="Text 91"/>
          <p:cNvSpPr/>
          <p:nvPr/>
        </p:nvSpPr>
        <p:spPr>
          <a:xfrm>
            <a:off x="3721608" y="33009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864608" y="327355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5" name="Text 93"/>
          <p:cNvSpPr/>
          <p:nvPr/>
        </p:nvSpPr>
        <p:spPr>
          <a:xfrm>
            <a:off x="4910328" y="33009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916168" y="327355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7" name="Text 95"/>
          <p:cNvSpPr/>
          <p:nvPr/>
        </p:nvSpPr>
        <p:spPr>
          <a:xfrm>
            <a:off x="5961888" y="33009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967728" y="327355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99" name="Text 97"/>
          <p:cNvSpPr/>
          <p:nvPr/>
        </p:nvSpPr>
        <p:spPr>
          <a:xfrm>
            <a:off x="7013448" y="330098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57200" y="359359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1" name="Text 99"/>
          <p:cNvSpPr/>
          <p:nvPr/>
        </p:nvSpPr>
        <p:spPr>
          <a:xfrm>
            <a:off x="502920" y="362102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Zettelkasten-typen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487168" y="359359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3" name="Text 101"/>
          <p:cNvSpPr/>
          <p:nvPr/>
        </p:nvSpPr>
        <p:spPr>
          <a:xfrm>
            <a:off x="2532888" y="36210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Manueel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75888" y="359359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5" name="Text 103"/>
          <p:cNvSpPr/>
          <p:nvPr/>
        </p:nvSpPr>
        <p:spPr>
          <a:xfrm>
            <a:off x="3721608" y="36210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864608" y="359359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7" name="Text 105"/>
          <p:cNvSpPr/>
          <p:nvPr/>
        </p:nvSpPr>
        <p:spPr>
          <a:xfrm>
            <a:off x="4910328" y="36210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Manueel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916168" y="359359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9" name="Text 107"/>
          <p:cNvSpPr/>
          <p:nvPr/>
        </p:nvSpPr>
        <p:spPr>
          <a:xfrm>
            <a:off x="5961888" y="36210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967728" y="359359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1" name="Text 109"/>
          <p:cNvSpPr/>
          <p:nvPr/>
        </p:nvSpPr>
        <p:spPr>
          <a:xfrm>
            <a:off x="7013448" y="36210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57200" y="391363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3" name="Text 111"/>
          <p:cNvSpPr/>
          <p:nvPr/>
        </p:nvSpPr>
        <p:spPr>
          <a:xfrm>
            <a:off x="502920" y="394106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487168" y="391363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5" name="Text 113"/>
          <p:cNvSpPr/>
          <p:nvPr/>
        </p:nvSpPr>
        <p:spPr>
          <a:xfrm>
            <a:off x="2532888" y="39410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675888" y="391363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7" name="Text 115"/>
          <p:cNvSpPr/>
          <p:nvPr/>
        </p:nvSpPr>
        <p:spPr>
          <a:xfrm>
            <a:off x="3721608" y="39410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864608" y="391363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19" name="Text 117"/>
          <p:cNvSpPr/>
          <p:nvPr/>
        </p:nvSpPr>
        <p:spPr>
          <a:xfrm>
            <a:off x="4910328" y="39410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5916168" y="391363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1" name="Text 119"/>
          <p:cNvSpPr/>
          <p:nvPr/>
        </p:nvSpPr>
        <p:spPr>
          <a:xfrm>
            <a:off x="5961888" y="39410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967728" y="391363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3" name="Text 121"/>
          <p:cNvSpPr/>
          <p:nvPr/>
        </p:nvSpPr>
        <p:spPr>
          <a:xfrm>
            <a:off x="7013448" y="394106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57200" y="423367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5" name="Text 123"/>
          <p:cNvSpPr/>
          <p:nvPr/>
        </p:nvSpPr>
        <p:spPr>
          <a:xfrm>
            <a:off x="502920" y="42611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2487168" y="423367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7" name="Text 125"/>
          <p:cNvSpPr/>
          <p:nvPr/>
        </p:nvSpPr>
        <p:spPr>
          <a:xfrm>
            <a:off x="2532888" y="42611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3675888" y="423367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9" name="Text 127"/>
          <p:cNvSpPr/>
          <p:nvPr/>
        </p:nvSpPr>
        <p:spPr>
          <a:xfrm>
            <a:off x="3721608" y="42611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4864608" y="423367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1" name="Text 129"/>
          <p:cNvSpPr/>
          <p:nvPr/>
        </p:nvSpPr>
        <p:spPr>
          <a:xfrm>
            <a:off x="4910328" y="42611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916168" y="423367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3" name="Text 131"/>
          <p:cNvSpPr/>
          <p:nvPr/>
        </p:nvSpPr>
        <p:spPr>
          <a:xfrm>
            <a:off x="5961888" y="42611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6967728" y="423367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5" name="Text 133"/>
          <p:cNvSpPr/>
          <p:nvPr/>
        </p:nvSpPr>
        <p:spPr>
          <a:xfrm>
            <a:off x="7013448" y="426110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Obsidian gratis voor persoonlijk gebruik; sync €8/mnd. Notion gratis plan beperkt.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maakt deze app uniek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70432" y="98755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Privacy-first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data blijft op jouw Mac. Geen cloud, geen abonnement, geen datamining. Markdown-bestanden — forever toekomstbestendig.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13832" y="98755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die je kennisgraaf kent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andere PKM-tool heeft dit. De AI antwoordt niet alleen op je vraag maar gebruikt de volledige structuur van je kennisbasis als context.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70432" y="30906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geïntegreerd: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plugins nodig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VIM-editor, PDF-bibliotheek, Canvas, Kennisgraaf, Boeken, Annotaties, Import — alles in één applicatie. Geen plugin-hell.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13832" y="30906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Zettelkasten-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 ingebakken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Notitietypen, promoveer-suggesties, spaced repetition en drie-lagen annotaties zijn geen afterthought maar de kern van de architectuur.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AI-integratie — lokaal én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397764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3977640" cy="347472"/>
          </a:xfrm>
          <a:prstGeom prst="rect">
            <a:avLst/>
          </a:prstGeom>
          <a:solidFill>
            <a:srgbClr val="9FCA56">
              <a:alpha val="22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94360" y="923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Lokaal (privé, gratis)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3703320" cy="960120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713232" y="1408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655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gemma3:12b · qwen3:8b · llama3.3:8b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828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lokale engine. Installeer modellen met `ollama pull`.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3703320" cy="960120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713232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Jan.ai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752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 Jan-modellen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2926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Alternatief met desktop UI. Aansluiten via Instellingen → Jan.ai.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3703320" cy="960120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713232" y="3602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Chunk-samenvatting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849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artikelen in stukken gesplitst zodat lokale modellen volledig kunnen samenvatten.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896112"/>
            <a:ext cx="397764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9" name="Shape 17"/>
          <p:cNvSpPr/>
          <p:nvPr/>
        </p:nvSpPr>
        <p:spPr>
          <a:xfrm>
            <a:off x="4709160" y="896112"/>
            <a:ext cx="3977640" cy="347472"/>
          </a:xfrm>
          <a:prstGeom prst="rect">
            <a:avLst/>
          </a:prstGeom>
          <a:solidFill>
            <a:srgbClr val="8AC6F2">
              <a:alpha val="22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4846320" y="923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(grote context, krachtig)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4956048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1609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 · claude-opus-4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066544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4956048" y="2093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6048" y="23042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 · gemini-2.5-pro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2761488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4956048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· o1 · o3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456432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4956048" y="34838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048" y="36941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400+ modellen via één 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4151376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4" name="Text 32"/>
          <p:cNvSpPr/>
          <p:nvPr/>
        </p:nvSpPr>
        <p:spPr>
          <a:xfrm>
            <a:off x="4956048" y="4178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56048" y="4389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mistral-large · magistral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45720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API-sleutels instellen via ⚙ Instellingen → API-sleutels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dagelijkse workflows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Artikel verwerken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389888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importeren → AI-samenvatting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673352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566928" y="168249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6550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markeren met drie-lagen kleuren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956816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3" name="Text 11"/>
          <p:cNvSpPr/>
          <p:nvPr/>
        </p:nvSpPr>
        <p:spPr>
          <a:xfrm>
            <a:off x="566928" y="196596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interpretaties toevoegen als {.eigen}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240280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566928" y="224942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22219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Promotie naar permanente notitie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2523744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566928" y="253288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505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Koppelen in de kennisgraaf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91440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4910328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Snel vastleggen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0328" y="1389888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4910328" y="139903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6636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Vluchtige notitie aanmaken (📅 dagnotitie)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0328" y="1673352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4910328" y="168249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16550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 noteren met #tags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0328" y="1956816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4910328" y="196596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2 dagen: inbox-review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0328" y="2240280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4910328" y="224942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22219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Verwerken naar literatuur of permanent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10328" y="2523744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6" name="Text 34"/>
          <p:cNvSpPr/>
          <p:nvPr/>
        </p:nvSpPr>
        <p:spPr>
          <a:xfrm>
            <a:off x="4910328" y="253288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2505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via Review-tab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39" name="Text 37"/>
          <p:cNvSpPr/>
          <p:nvPr/>
        </p:nvSpPr>
        <p:spPr>
          <a:xfrm>
            <a:off x="566928" y="3090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Kennisverkenning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3493008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1" name="Text 39"/>
          <p:cNvSpPr/>
          <p:nvPr/>
        </p:nvSpPr>
        <p:spPr>
          <a:xfrm>
            <a:off x="566928" y="350215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Kennisgraaf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4" name="Text 42"/>
          <p:cNvSpPr/>
          <p:nvPr/>
        </p:nvSpPr>
        <p:spPr>
          <a:xfrm>
            <a:off x="566928" y="378561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" y="37581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node → peek-panel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4059936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7" name="Text 45"/>
          <p:cNvSpPr/>
          <p:nvPr/>
        </p:nvSpPr>
        <p:spPr>
          <a:xfrm>
            <a:off x="566928" y="406908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Notebook → GraphRAG analyse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" y="4343400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0" name="Text 48"/>
          <p:cNvSpPr/>
          <p:nvPr/>
        </p:nvSpPr>
        <p:spPr>
          <a:xfrm>
            <a:off x="566928" y="435254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" y="4325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Verrassende verbindingen ontdekken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4626864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3" name="Text 51"/>
          <p:cNvSpPr/>
          <p:nvPr/>
        </p:nvSpPr>
        <p:spPr>
          <a:xfrm>
            <a:off x="566928" y="463600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2960" y="4608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naar nieuwe permanente notitie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0600" y="301752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6" name="Text 54"/>
          <p:cNvSpPr/>
          <p:nvPr/>
        </p:nvSpPr>
        <p:spPr>
          <a:xfrm>
            <a:off x="4910328" y="3090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PDF lezen &amp; verwerken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10328" y="3493008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58" name="Text 56"/>
          <p:cNvSpPr/>
          <p:nvPr/>
        </p:nvSpPr>
        <p:spPr>
          <a:xfrm>
            <a:off x="4910328" y="350215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6636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openen in de bibliotheek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910328" y="3776472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1" name="Text 59"/>
          <p:cNvSpPr/>
          <p:nvPr/>
        </p:nvSpPr>
        <p:spPr>
          <a:xfrm>
            <a:off x="4910328" y="378561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66360" y="37581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highlighten met kleurcodering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10328" y="4059936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4" name="Text 62"/>
          <p:cNvSpPr/>
          <p:nvPr/>
        </p:nvSpPr>
        <p:spPr>
          <a:xfrm>
            <a:off x="4910328" y="406908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6636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Leesnotitie schrijven naast de PDF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10328" y="4343400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7" name="Text 65"/>
          <p:cNvSpPr/>
          <p:nvPr/>
        </p:nvSpPr>
        <p:spPr>
          <a:xfrm>
            <a:off x="4910328" y="435254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66360" y="4325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Exporteer alle annotaties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10328" y="4626864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70" name="Text 68"/>
          <p:cNvSpPr/>
          <p:nvPr/>
        </p:nvSpPr>
        <p:spPr>
          <a:xfrm>
            <a:off x="4910328" y="463600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66360" y="4608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Literatuurnotitie in de vault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app in cijfers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0128" y="96012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3310128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10128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3056" y="96012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1" name="Text 9"/>
          <p:cNvSpPr/>
          <p:nvPr/>
        </p:nvSpPr>
        <p:spPr>
          <a:xfrm>
            <a:off x="6163056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bouwsessies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D78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AI-providers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0128" y="237744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E5786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33101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310128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editor-modi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37744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857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616305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63056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server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3" name="Text 21"/>
          <p:cNvSpPr/>
          <p:nvPr/>
        </p:nvSpPr>
        <p:spPr>
          <a:xfrm>
            <a:off x="59436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Kerntechnologie: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4023360"/>
            <a:ext cx="1261872" cy="512064"/>
          </a:xfrm>
          <a:prstGeom prst="rect">
            <a:avLst/>
          </a:prstGeom>
          <a:solidFill>
            <a:srgbClr val="EAE788">
              <a:alpha val="18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5" name="Text 23"/>
          <p:cNvSpPr/>
          <p:nvPr/>
        </p:nvSpPr>
        <p:spPr>
          <a:xfrm>
            <a:off x="594360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47672" y="4023360"/>
            <a:ext cx="1261872" cy="512064"/>
          </a:xfrm>
          <a:prstGeom prst="rect">
            <a:avLst/>
          </a:prstGeom>
          <a:solidFill>
            <a:srgbClr val="8AC6F2">
              <a:alpha val="18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7" name="Text 25"/>
          <p:cNvSpPr/>
          <p:nvPr/>
        </p:nvSpPr>
        <p:spPr>
          <a:xfrm>
            <a:off x="1947672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(CDN)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00984" y="4023360"/>
            <a:ext cx="1261872" cy="512064"/>
          </a:xfrm>
          <a:prstGeom prst="rect">
            <a:avLst/>
          </a:prstGeom>
          <a:solidFill>
            <a:srgbClr val="9FCA56">
              <a:alpha val="18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9" name="Text 27"/>
          <p:cNvSpPr/>
          <p:nvPr/>
        </p:nvSpPr>
        <p:spPr>
          <a:xfrm>
            <a:off x="3300984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54296" y="4023360"/>
            <a:ext cx="1261872" cy="512064"/>
          </a:xfrm>
          <a:prstGeom prst="rect">
            <a:avLst/>
          </a:prstGeom>
          <a:solidFill>
            <a:srgbClr val="E5786D">
              <a:alpha val="18000"/>
            </a:srgbClr>
          </a:solidFill>
          <a:ln w="12700">
            <a:solidFill>
              <a:srgbClr val="E5786D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1" name="Text 29"/>
          <p:cNvSpPr/>
          <p:nvPr/>
        </p:nvSpPr>
        <p:spPr>
          <a:xfrm>
            <a:off x="4654296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07608" y="4023360"/>
            <a:ext cx="1261872" cy="512064"/>
          </a:xfrm>
          <a:prstGeom prst="rect">
            <a:avLst/>
          </a:prstGeom>
          <a:solidFill>
            <a:srgbClr val="D787FF">
              <a:alpha val="18000"/>
            </a:srgbClr>
          </a:solidFill>
          <a:ln w="12700">
            <a:solidFill>
              <a:srgbClr val="D787F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3" name="Text 31"/>
          <p:cNvSpPr/>
          <p:nvPr/>
        </p:nvSpPr>
        <p:spPr>
          <a:xfrm>
            <a:off x="6007608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4023360"/>
            <a:ext cx="1261872" cy="512064"/>
          </a:xfrm>
          <a:prstGeom prst="rect">
            <a:avLst/>
          </a:prstGeom>
          <a:solidFill>
            <a:srgbClr val="857B6F">
              <a:alpha val="18000"/>
            </a:srgbClr>
          </a:solidFill>
          <a:ln w="12700">
            <a:solidFill>
              <a:srgbClr val="857B6F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5" name="Text 33"/>
          <p:cNvSpPr/>
          <p:nvPr/>
        </p:nvSpPr>
        <p:spPr>
          <a:xfrm>
            <a:off x="7360920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vault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staat er nog op de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374904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97480" cy="384048"/>
          </a:xfrm>
          <a:prstGeom prst="rect">
            <a:avLst/>
          </a:prstGeom>
          <a:solidFill>
            <a:srgbClr val="8AC6F2">
              <a:alpha val="25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46304" cy="146304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804672" y="1399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Keep integratie (mobiele capture-laag)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146304" cy="146304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804672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Browser-extensie voor één-klik opslaan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273552"/>
            <a:ext cx="146304" cy="146304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804672" y="3227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Mobiele webpagina (/capture)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914400"/>
            <a:ext cx="2697480" cy="374904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14" name="Shape 12"/>
          <p:cNvSpPr/>
          <p:nvPr/>
        </p:nvSpPr>
        <p:spPr>
          <a:xfrm>
            <a:off x="3310128" y="914400"/>
            <a:ext cx="2697480" cy="384048"/>
          </a:xfrm>
          <a:prstGeom prst="rect">
            <a:avLst/>
          </a:prstGeom>
          <a:solidFill>
            <a:srgbClr val="9FCA56">
              <a:alpha val="25000"/>
            </a:srgbClr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5" name="Text 13"/>
          <p:cNvSpPr/>
          <p:nvPr/>
        </p:nvSpPr>
        <p:spPr>
          <a:xfrm>
            <a:off x="3419856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47288" y="1444752"/>
            <a:ext cx="146304" cy="146304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7" name="Text 15"/>
          <p:cNvSpPr/>
          <p:nvPr/>
        </p:nvSpPr>
        <p:spPr>
          <a:xfrm>
            <a:off x="3657600" y="1399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referenties: ((blok-id)) syntax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47288" y="2359152"/>
            <a:ext cx="146304" cy="146304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9" name="Text 17"/>
          <p:cNvSpPr/>
          <p:nvPr/>
        </p:nvSpPr>
        <p:spPr>
          <a:xfrm>
            <a:off x="3657600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met variabelen ({{datum}}, {{titel}})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47288" y="3273552"/>
            <a:ext cx="146304" cy="146304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1" name="Text 19"/>
          <p:cNvSpPr/>
          <p:nvPr/>
        </p:nvSpPr>
        <p:spPr>
          <a:xfrm>
            <a:off x="3657600" y="3227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Capacities-stijl objecttypen met eigen velden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914400"/>
            <a:ext cx="2697480" cy="3749040"/>
          </a:xfrm>
          <a:prstGeom prst="rect">
            <a:avLst/>
          </a:prstGeom>
          <a:solidFill>
            <a:srgbClr val="252525"/>
          </a:solidFill>
          <a:ln w="19050">
            <a:solidFill>
              <a:srgbClr val="EAE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nl-NL"/>
          </a:p>
        </p:txBody>
      </p:sp>
      <p:sp>
        <p:nvSpPr>
          <p:cNvPr id="23" name="Shape 21"/>
          <p:cNvSpPr/>
          <p:nvPr/>
        </p:nvSpPr>
        <p:spPr>
          <a:xfrm>
            <a:off x="6163056" y="914400"/>
            <a:ext cx="2697480" cy="384048"/>
          </a:xfrm>
          <a:prstGeom prst="rect">
            <a:avLst/>
          </a:prstGeom>
          <a:solidFill>
            <a:srgbClr val="EAE788">
              <a:alpha val="25000"/>
            </a:srgbClr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4" name="Text 22"/>
          <p:cNvSpPr/>
          <p:nvPr/>
        </p:nvSpPr>
        <p:spPr>
          <a:xfrm>
            <a:off x="6272784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0216" y="1444752"/>
            <a:ext cx="146304" cy="146304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6" name="Text 24"/>
          <p:cNvSpPr/>
          <p:nvPr/>
        </p:nvSpPr>
        <p:spPr>
          <a:xfrm>
            <a:off x="6510528" y="1399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Exporteren als statische HTML-website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0216" y="2359152"/>
            <a:ext cx="146304" cy="146304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8" name="Text 26"/>
          <p:cNvSpPr/>
          <p:nvPr/>
        </p:nvSpPr>
        <p:spPr>
          <a:xfrm>
            <a:off x="6510528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Versiegeschiedenis per notitie (git-diff)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0216" y="3273552"/>
            <a:ext cx="146304" cy="146304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0" name="Text 28"/>
          <p:cNvSpPr/>
          <p:nvPr/>
        </p:nvSpPr>
        <p:spPr>
          <a:xfrm>
            <a:off x="6510528" y="3227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Highlight-exportpagina (Readwise-alternatief)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Aanbevelingen gebaseerd op analyse van 27 PKM-tools (Obsidian, Roam, Logseq, Capacities, Readwise, Tana...)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8AC6F2">
              <a:alpha val="7000"/>
            </a:srgbClr>
          </a:solidFill>
          <a:ln w="12700">
            <a:solidFill>
              <a:srgbClr val="8AC6F2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9FCA56">
              <a:alpha val="6000"/>
            </a:srgbClr>
          </a:solidFill>
          <a:ln w="12700">
            <a:solidFill>
              <a:srgbClr val="9FCA56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kennis.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regels. Jouw machine.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 · Privacy-first · Doorlopend in ontwikkeling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Lokale 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0048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0" name="Text 8"/>
          <p:cNvSpPr/>
          <p:nvPr/>
        </p:nvSpPr>
        <p:spPr>
          <a:xfrm>
            <a:off x="2670048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GraphRAG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08576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2" name="Text 10"/>
          <p:cNvSpPr/>
          <p:nvPr/>
        </p:nvSpPr>
        <p:spPr>
          <a:xfrm>
            <a:off x="4608576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PDF-bibliotheek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47104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4" name="Text 12"/>
          <p:cNvSpPr/>
          <p:nvPr/>
        </p:nvSpPr>
        <p:spPr>
          <a:xfrm>
            <a:off x="6547104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Kennisgraaf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VIM editor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70048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18" name="Text 16"/>
          <p:cNvSpPr/>
          <p:nvPr/>
        </p:nvSpPr>
        <p:spPr>
          <a:xfrm>
            <a:off x="2670048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Boeken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0" name="Text 18"/>
          <p:cNvSpPr/>
          <p:nvPr/>
        </p:nvSpPr>
        <p:spPr>
          <a:xfrm>
            <a:off x="4608576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Drie-lagen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47104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  <p:txBody>
          <a:bodyPr/>
          <a:lstStyle/>
          <a:p>
            <a:endParaRPr lang="nl-NL"/>
          </a:p>
        </p:txBody>
      </p:sp>
      <p:sp>
        <p:nvSpPr>
          <p:cNvPr id="22" name="Text 20"/>
          <p:cNvSpPr/>
          <p:nvPr/>
        </p:nvSpPr>
        <p:spPr>
          <a:xfrm>
            <a:off x="6547104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Split-screen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7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Vault: /Users/hj/Documents/Zettelkast  ·  Server: python3 server.py --port 8080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</Words>
  <Application>Microsoft Macintosh PowerPoint</Application>
  <PresentationFormat>On-screen Show (16:9)</PresentationFormat>
  <Paragraphs>406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Zettelkasten VIM — Persoonlijk Kennismanagement</dc:title>
  <dc:subject>PptxGenJS Presentation</dc:subject>
  <dc:creator>Henk-Jan</dc:creator>
  <cp:lastModifiedBy>H.J. Hopman</cp:lastModifiedBy>
  <cp:revision>2</cp:revision>
  <dcterms:created xsi:type="dcterms:W3CDTF">2026-05-03T11:32:39Z</dcterms:created>
  <dcterms:modified xsi:type="dcterms:W3CDTF">2026-05-06T17:56:54Z</dcterms:modified>
</cp:coreProperties>
</file>